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Prata"/>
      <p:regular r:id="rId201314"/>
    </p:embeddedFont>
    <p:embeddedFont>
      <p:font typeface="Manrope"/>
      <p:regular r:id="rId201315"/>
    </p:embeddedFont>
    <p:embeddedFont>
      <p:font typeface="Manrope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3171B"/>
          </a:solidFill>
          <a:ln/>
        </p:spPr>
      </p:sp>
      <p:sp>
        <p:nvSpPr>
          <p:cNvPr id="3" name="Shape 1"/>
          <p:cNvSpPr/>
          <p:nvPr/>
        </p:nvSpPr>
        <p:spPr>
          <a:xfrm>
            <a:off x="0" y="0"/>
            <a:ext cx="9144000" cy="51435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121346"/>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F2D4BA"/>
                </a:solidFill>
                <a:latin typeface="Prata" pitchFamily="34" charset="0"/>
                <a:ea typeface="Prata" pitchFamily="34" charset="-122"/>
                <a:cs typeface="Prata" pitchFamily="34" charset="-120"/>
              </a:rPr>
              <a:t>CareNest</a:t>
            </a:r>
            <a:endParaRPr lang="en-US" sz="2400" dirty="0"/>
          </a:p>
        </p:txBody>
      </p:sp>
      <p:sp>
        <p:nvSpPr>
          <p:cNvPr id="4" name="Text 1"/>
          <p:cNvSpPr/>
          <p:nvPr/>
        </p:nvSpPr>
        <p:spPr>
          <a:xfrm>
            <a:off x="3925119" y="1694929"/>
            <a:ext cx="4722763" cy="1604665"/>
          </a:xfrm>
          <a:prstGeom prst="rect">
            <a:avLst/>
          </a:prstGeom>
          <a:noFill/>
          <a:ln/>
        </p:spPr>
        <p:txBody>
          <a:bodyPr wrap="square" lIns="0" tIns="0" rIns="0" bIns="0" rtlCol="0" anchor="t">
            <a:normAutofit/>
          </a:bodyPr>
          <a:lstStyle/>
          <a:p>
            <a:pPr algn="l" indent="0" marL="0">
              <a:lnSpc>
                <a:spcPct val="104000"/>
              </a:lnSpc>
              <a:buNone/>
            </a:pPr>
            <a:r>
              <a:rPr lang="en-US" sz="3350" dirty="0">
                <a:solidFill>
                  <a:srgbClr val="F2D4BA"/>
                </a:solidFill>
                <a:latin typeface="Prata" pitchFamily="34" charset="0"/>
                <a:ea typeface="Prata" pitchFamily="34" charset="-122"/>
                <a:cs typeface="Prata" pitchFamily="34" charset="-120"/>
              </a:rPr>
              <a:t>Cloud-Native Healthcare Platform on Azure</a:t>
            </a:r>
            <a:endParaRPr lang="en-US" sz="3350" dirty="0"/>
          </a:p>
        </p:txBody>
      </p:sp>
      <p:sp>
        <p:nvSpPr>
          <p:cNvPr id="5" name="Text 2"/>
          <p:cNvSpPr/>
          <p:nvPr/>
        </p:nvSpPr>
        <p:spPr>
          <a:xfrm>
            <a:off x="3925119" y="3485629"/>
            <a:ext cx="4722763" cy="536451"/>
          </a:xfrm>
          <a:prstGeom prst="rect">
            <a:avLst/>
          </a:prstGeom>
          <a:noFill/>
          <a:ln/>
        </p:spPr>
        <p:txBody>
          <a:bodyPr wrap="square" lIns="0" tIns="0" rIns="0" bIns="0" rtlCol="0" anchor="t"/>
          <a:lstStyle/>
          <a:p>
            <a:pPr algn="l" indent="0" marL="0">
              <a:lnSpc>
                <a:spcPct val="133000"/>
              </a:lnSpc>
              <a:spcAft>
                <a:spcPts val="1050"/>
              </a:spcAft>
              <a:buNone/>
            </a:pPr>
            <a:r>
              <a:rPr lang="en-US" sz="950" dirty="0">
                <a:solidFill>
                  <a:srgbClr val="BDA189"/>
                </a:solidFill>
                <a:latin typeface="Manrope" pitchFamily="34" charset="0"/>
                <a:ea typeface="Manrope" pitchFamily="34" charset="-122"/>
                <a:cs typeface="Manrope" pitchFamily="34" charset="-120"/>
              </a:rPr>
              <a:t>Infrastructure as Code with Terraform</a:t>
            </a:r>
            <a:endParaRPr lang="en-US" sz="950" dirty="0"/>
          </a:p>
          <a:p>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Azure · AKS · Terraform · Switzerland North</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72901" y="336500"/>
            <a:ext cx="1089794" cy="218554"/>
          </a:xfrm>
          <a:prstGeom prst="roundRect">
            <a:avLst>
              <a:gd name="adj" fmla="val 6492"/>
            </a:avLst>
          </a:prstGeom>
          <a:solidFill>
            <a:srgbClr val="391F13"/>
          </a:solidFill>
          <a:ln/>
        </p:spPr>
      </p:sp>
      <p:sp>
        <p:nvSpPr>
          <p:cNvPr id="3" name="Text 1"/>
          <p:cNvSpPr/>
          <p:nvPr/>
        </p:nvSpPr>
        <p:spPr>
          <a:xfrm>
            <a:off x="543818" y="371921"/>
            <a:ext cx="1405161" cy="147712"/>
          </a:xfrm>
          <a:prstGeom prst="rect">
            <a:avLst/>
          </a:prstGeom>
          <a:noFill/>
          <a:ln/>
        </p:spPr>
        <p:txBody>
          <a:bodyPr wrap="none" lIns="0" tIns="0" rIns="0" bIns="0" rtlCol="0" anchor="t"/>
          <a:lstStyle/>
          <a:p>
            <a:pPr algn="l" indent="0" marL="0">
              <a:lnSpc>
                <a:spcPct val="130000"/>
              </a:lnSpc>
              <a:buNone/>
            </a:pPr>
            <a:r>
              <a:rPr lang="en-US" sz="700" dirty="0">
                <a:solidFill>
                  <a:srgbClr val="BDA189"/>
                </a:solidFill>
                <a:latin typeface="Manrope" pitchFamily="34" charset="0"/>
                <a:ea typeface="Manrope" pitchFamily="34" charset="-122"/>
                <a:cs typeface="Manrope" pitchFamily="34" charset="-120"/>
              </a:rPr>
              <a:t>PLATFORM OVERVIEW</a:t>
            </a:r>
            <a:endParaRPr lang="en-US" sz="700" dirty="0"/>
          </a:p>
        </p:txBody>
      </p:sp>
      <p:sp>
        <p:nvSpPr>
          <p:cNvPr id="4" name="Text 2"/>
          <p:cNvSpPr/>
          <p:nvPr/>
        </p:nvSpPr>
        <p:spPr>
          <a:xfrm>
            <a:off x="472901" y="600075"/>
            <a:ext cx="8161734" cy="369466"/>
          </a:xfrm>
          <a:prstGeom prst="rect">
            <a:avLst/>
          </a:prstGeom>
          <a:noFill/>
          <a:ln/>
        </p:spPr>
        <p:txBody>
          <a:bodyPr wrap="none" lIns="0" tIns="0" rIns="0" bIns="0" rtlCol="0" anchor="t"/>
          <a:lstStyle/>
          <a:p>
            <a:pPr algn="l" indent="0" marL="0">
              <a:lnSpc>
                <a:spcPct val="104000"/>
              </a:lnSpc>
              <a:buNone/>
            </a:pPr>
            <a:r>
              <a:rPr lang="en-US" sz="2300" dirty="0">
                <a:solidFill>
                  <a:srgbClr val="F2D4BA"/>
                </a:solidFill>
                <a:latin typeface="Prata" pitchFamily="34" charset="0"/>
                <a:ea typeface="Prata" pitchFamily="34" charset="-122"/>
                <a:cs typeface="Prata" pitchFamily="34" charset="-120"/>
              </a:rPr>
              <a:t>What Is CareNest — and What Problem Do We Solve?</a:t>
            </a:r>
            <a:endParaRPr lang="en-US" sz="2300" dirty="0"/>
          </a:p>
        </p:txBody>
      </p:sp>
      <p:sp>
        <p:nvSpPr>
          <p:cNvPr id="5" name="Shape 3"/>
          <p:cNvSpPr/>
          <p:nvPr/>
        </p:nvSpPr>
        <p:spPr>
          <a:xfrm>
            <a:off x="387772" y="1138535"/>
            <a:ext cx="4125144" cy="3668464"/>
          </a:xfrm>
          <a:prstGeom prst="roundRect">
            <a:avLst>
              <a:gd name="adj" fmla="val 483"/>
            </a:avLst>
          </a:prstGeom>
          <a:solidFill>
            <a:srgbClr val="84482D"/>
          </a:solidFill>
          <a:ln/>
        </p:spPr>
      </p:sp>
      <p:sp>
        <p:nvSpPr>
          <p:cNvPr id="6" name="Text 4"/>
          <p:cNvSpPr/>
          <p:nvPr/>
        </p:nvSpPr>
        <p:spPr>
          <a:xfrm>
            <a:off x="505941" y="1251198"/>
            <a:ext cx="1935063" cy="184696"/>
          </a:xfrm>
          <a:prstGeom prst="rect">
            <a:avLst/>
          </a:prstGeom>
          <a:noFill/>
          <a:ln/>
        </p:spPr>
        <p:txBody>
          <a:bodyPr wrap="none" lIns="0" tIns="0" rIns="0" bIns="0" rtlCol="0" anchor="t"/>
          <a:lstStyle/>
          <a:p>
            <a:pPr algn="l" indent="0" marL="0">
              <a:lnSpc>
                <a:spcPct val="104000"/>
              </a:lnSpc>
              <a:buNone/>
            </a:pPr>
            <a:r>
              <a:rPr lang="en-US" sz="1150" dirty="0">
                <a:solidFill>
                  <a:srgbClr val="F2D4BA"/>
                </a:solidFill>
                <a:latin typeface="Prata" pitchFamily="34" charset="0"/>
                <a:ea typeface="Prata" pitchFamily="34" charset="-122"/>
                <a:cs typeface="Prata" pitchFamily="34" charset="-120"/>
              </a:rPr>
              <a:t>The Platform</a:t>
            </a:r>
            <a:endParaRPr lang="en-US" sz="1150" dirty="0"/>
          </a:p>
        </p:txBody>
      </p:sp>
      <p:sp>
        <p:nvSpPr>
          <p:cNvPr id="7" name="Text 5"/>
          <p:cNvSpPr/>
          <p:nvPr/>
        </p:nvSpPr>
        <p:spPr>
          <a:xfrm>
            <a:off x="505941" y="1548557"/>
            <a:ext cx="3888804" cy="1108174"/>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FFFFFF"/>
                </a:solidFill>
                <a:latin typeface="Manrope" pitchFamily="34" charset="0"/>
                <a:ea typeface="Manrope" pitchFamily="34" charset="-122"/>
                <a:cs typeface="Manrope" pitchFamily="34" charset="-120"/>
              </a:rPr>
              <a:t>CareNest is a cloud-native healthcare management platform connecting patients and doctors in one secure digital system. Patients describe symptoms, book appointments, and receive digital prescriptions. Doctors manage schedules and create structured prescriptions. Built on microservices architecture running on Azure AKS in Switzerland North.</a:t>
            </a:r>
            <a:endParaRPr lang="en-US" sz="900" dirty="0"/>
          </a:p>
        </p:txBody>
      </p:sp>
      <p:sp>
        <p:nvSpPr>
          <p:cNvPr id="8" name="Text 6"/>
          <p:cNvSpPr/>
          <p:nvPr/>
        </p:nvSpPr>
        <p:spPr>
          <a:xfrm>
            <a:off x="4720977" y="1251198"/>
            <a:ext cx="1935063" cy="184696"/>
          </a:xfrm>
          <a:prstGeom prst="rect">
            <a:avLst/>
          </a:prstGeom>
          <a:noFill/>
          <a:ln/>
        </p:spPr>
        <p:txBody>
          <a:bodyPr wrap="none" lIns="0" tIns="0" rIns="0" bIns="0" rtlCol="0" anchor="t"/>
          <a:lstStyle/>
          <a:p>
            <a:pPr algn="l" indent="0" marL="0">
              <a:lnSpc>
                <a:spcPct val="104000"/>
              </a:lnSpc>
              <a:buNone/>
            </a:pPr>
            <a:r>
              <a:rPr lang="en-US" sz="1150" dirty="0">
                <a:solidFill>
                  <a:srgbClr val="F2D4BA"/>
                </a:solidFill>
                <a:latin typeface="Prata" pitchFamily="34" charset="0"/>
                <a:ea typeface="Prata" pitchFamily="34" charset="-122"/>
                <a:cs typeface="Prata" pitchFamily="34" charset="-120"/>
              </a:rPr>
              <a:t>Problem vs. Solution</a:t>
            </a:r>
            <a:endParaRPr lang="en-US" sz="1150" dirty="0"/>
          </a:p>
        </p:txBody>
      </p:sp>
      <p:sp>
        <p:nvSpPr>
          <p:cNvPr id="9" name="Shape 7"/>
          <p:cNvSpPr/>
          <p:nvPr/>
        </p:nvSpPr>
        <p:spPr>
          <a:xfrm>
            <a:off x="4720977" y="1562621"/>
            <a:ext cx="3954884" cy="3117652"/>
          </a:xfrm>
          <a:prstGeom prst="roundRect">
            <a:avLst>
              <a:gd name="adj" fmla="val 569"/>
            </a:avLst>
          </a:prstGeom>
          <a:noFill/>
          <a:ln w="4763">
            <a:solidFill>
              <a:srgbClr val="FFFFFF">
                <a:alpha val="24000"/>
              </a:srgbClr>
            </a:solidFill>
            <a:prstDash val="solid"/>
          </a:ln>
        </p:spPr>
      </p:sp>
      <p:sp>
        <p:nvSpPr>
          <p:cNvPr id="10" name="Text 8"/>
          <p:cNvSpPr/>
          <p:nvPr/>
        </p:nvSpPr>
        <p:spPr>
          <a:xfrm>
            <a:off x="4843983" y="1639714"/>
            <a:ext cx="2191122" cy="184696"/>
          </a:xfrm>
          <a:prstGeom prst="rect">
            <a:avLst/>
          </a:prstGeom>
          <a:noFill/>
          <a:ln/>
        </p:spPr>
        <p:txBody>
          <a:bodyPr wrap="none" lIns="0" tIns="0" rIns="0" bIns="0" rtlCol="0" anchor="t"/>
          <a:lstStyle/>
          <a:p>
            <a:pPr algn="l" indent="0" marL="0">
              <a:lnSpc>
                <a:spcPct val="130000"/>
              </a:lnSpc>
              <a:buNone/>
            </a:pPr>
            <a:r>
              <a:rPr lang="en-US" sz="900" b="1" dirty="0">
                <a:solidFill>
                  <a:srgbClr val="BDA189"/>
                </a:solidFill>
                <a:latin typeface="Manrope" pitchFamily="34" charset="0"/>
                <a:ea typeface="Manrope" pitchFamily="34" charset="-122"/>
                <a:cs typeface="Manrope" pitchFamily="34" charset="-120"/>
              </a:rPr>
              <a:t>Problem</a:t>
            </a:r>
            <a:endParaRPr lang="en-US" sz="900" dirty="0"/>
          </a:p>
        </p:txBody>
      </p:sp>
      <p:sp>
        <p:nvSpPr>
          <p:cNvPr id="11" name="Text 9"/>
          <p:cNvSpPr/>
          <p:nvPr/>
        </p:nvSpPr>
        <p:spPr>
          <a:xfrm>
            <a:off x="6819007" y="1639714"/>
            <a:ext cx="2191122" cy="184696"/>
          </a:xfrm>
          <a:prstGeom prst="rect">
            <a:avLst/>
          </a:prstGeom>
          <a:noFill/>
          <a:ln/>
        </p:spPr>
        <p:txBody>
          <a:bodyPr wrap="none" lIns="0" tIns="0" rIns="0" bIns="0" rtlCol="0" anchor="t"/>
          <a:lstStyle/>
          <a:p>
            <a:pPr algn="l" indent="0" marL="0">
              <a:lnSpc>
                <a:spcPct val="130000"/>
              </a:lnSpc>
              <a:buNone/>
            </a:pPr>
            <a:r>
              <a:rPr lang="en-US" sz="900" b="1" dirty="0">
                <a:solidFill>
                  <a:srgbClr val="BDA189"/>
                </a:solidFill>
                <a:latin typeface="Manrope" pitchFamily="34" charset="0"/>
                <a:ea typeface="Manrope" pitchFamily="34" charset="-122"/>
                <a:cs typeface="Manrope" pitchFamily="34" charset="-120"/>
              </a:rPr>
              <a:t>CareNest Solution</a:t>
            </a:r>
            <a:endParaRPr lang="en-US" sz="900" dirty="0"/>
          </a:p>
        </p:txBody>
      </p:sp>
      <p:sp>
        <p:nvSpPr>
          <p:cNvPr id="12" name="Text 10"/>
          <p:cNvSpPr/>
          <p:nvPr/>
        </p:nvSpPr>
        <p:spPr>
          <a:xfrm>
            <a:off x="4843983" y="1973833"/>
            <a:ext cx="2191122" cy="184696"/>
          </a:xfrm>
          <a:prstGeom prst="rect">
            <a:avLst/>
          </a:prstGeom>
          <a:noFill/>
          <a:ln/>
        </p:spPr>
        <p:txBody>
          <a:bodyPr wrap="none" lIns="0" tIns="0" rIns="0" bIns="0" rtlCol="0" anchor="t"/>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Unclear which specialist to visit</a:t>
            </a:r>
            <a:endParaRPr lang="en-US" sz="900" dirty="0"/>
          </a:p>
        </p:txBody>
      </p:sp>
      <p:sp>
        <p:nvSpPr>
          <p:cNvPr id="13" name="Text 11"/>
          <p:cNvSpPr/>
          <p:nvPr/>
        </p:nvSpPr>
        <p:spPr>
          <a:xfrm>
            <a:off x="6819007" y="1973833"/>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AI symptom analysis guides to the right doctor</a:t>
            </a:r>
            <a:endParaRPr lang="en-US" sz="900" dirty="0"/>
          </a:p>
        </p:txBody>
      </p:sp>
      <p:sp>
        <p:nvSpPr>
          <p:cNvPr id="14" name="Text 12"/>
          <p:cNvSpPr/>
          <p:nvPr/>
        </p:nvSpPr>
        <p:spPr>
          <a:xfrm>
            <a:off x="4843983" y="2492648"/>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Phone-based appointment booking</a:t>
            </a:r>
            <a:endParaRPr lang="en-US" sz="900" dirty="0"/>
          </a:p>
        </p:txBody>
      </p:sp>
      <p:sp>
        <p:nvSpPr>
          <p:cNvPr id="15" name="Text 13"/>
          <p:cNvSpPr/>
          <p:nvPr/>
        </p:nvSpPr>
        <p:spPr>
          <a:xfrm>
            <a:off x="6819007" y="2492648"/>
            <a:ext cx="2191122" cy="184696"/>
          </a:xfrm>
          <a:prstGeom prst="rect">
            <a:avLst/>
          </a:prstGeom>
          <a:noFill/>
          <a:ln/>
        </p:spPr>
        <p:txBody>
          <a:bodyPr wrap="none" lIns="0" tIns="0" rIns="0" bIns="0" rtlCol="0" anchor="t"/>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Digital self-service booking</a:t>
            </a:r>
            <a:endParaRPr lang="en-US" sz="900" dirty="0"/>
          </a:p>
        </p:txBody>
      </p:sp>
      <p:sp>
        <p:nvSpPr>
          <p:cNvPr id="16" name="Text 14"/>
          <p:cNvSpPr/>
          <p:nvPr/>
        </p:nvSpPr>
        <p:spPr>
          <a:xfrm>
            <a:off x="4843983" y="3011463"/>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Unreadable handwritten prescriptions</a:t>
            </a:r>
            <a:endParaRPr lang="en-US" sz="900" dirty="0"/>
          </a:p>
        </p:txBody>
      </p:sp>
      <p:sp>
        <p:nvSpPr>
          <p:cNvPr id="17" name="Text 15"/>
          <p:cNvSpPr/>
          <p:nvPr/>
        </p:nvSpPr>
        <p:spPr>
          <a:xfrm>
            <a:off x="6819007" y="3011463"/>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AI plain-language prescription summary</a:t>
            </a:r>
            <a:endParaRPr lang="en-US" sz="900" dirty="0"/>
          </a:p>
        </p:txBody>
      </p:sp>
      <p:sp>
        <p:nvSpPr>
          <p:cNvPr id="18" name="Text 16"/>
          <p:cNvSpPr/>
          <p:nvPr/>
        </p:nvSpPr>
        <p:spPr>
          <a:xfrm>
            <a:off x="4843983" y="3530278"/>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Generic notifications nobody reads</a:t>
            </a:r>
            <a:endParaRPr lang="en-US" sz="900" dirty="0"/>
          </a:p>
        </p:txBody>
      </p:sp>
      <p:sp>
        <p:nvSpPr>
          <p:cNvPr id="19" name="Text 17"/>
          <p:cNvSpPr/>
          <p:nvPr/>
        </p:nvSpPr>
        <p:spPr>
          <a:xfrm>
            <a:off x="6819007" y="3530278"/>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Personalized AI smart notifications</a:t>
            </a:r>
            <a:endParaRPr lang="en-US" sz="900" dirty="0"/>
          </a:p>
        </p:txBody>
      </p:sp>
      <p:sp>
        <p:nvSpPr>
          <p:cNvPr id="20" name="Text 18"/>
          <p:cNvSpPr/>
          <p:nvPr/>
        </p:nvSpPr>
        <p:spPr>
          <a:xfrm>
            <a:off x="4843983" y="4049092"/>
            <a:ext cx="1733922"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Unstructured doctor free-text notes</a:t>
            </a:r>
            <a:endParaRPr lang="en-US" sz="900" dirty="0"/>
          </a:p>
        </p:txBody>
      </p:sp>
      <p:sp>
        <p:nvSpPr>
          <p:cNvPr id="21" name="Text 19"/>
          <p:cNvSpPr/>
          <p:nvPr/>
        </p:nvSpPr>
        <p:spPr>
          <a:xfrm>
            <a:off x="6819007" y="4049092"/>
            <a:ext cx="1733922"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BDA189"/>
                </a:solidFill>
                <a:latin typeface="Manrope" pitchFamily="34" charset="0"/>
                <a:ea typeface="Manrope" pitchFamily="34" charset="-122"/>
                <a:cs typeface="Manrope" pitchFamily="34" charset="-120"/>
              </a:rPr>
              <a:t>Azure AI Language extracts diagnosis and medications automatically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9610" y="346472"/>
            <a:ext cx="3773984" cy="351309"/>
          </a:xfrm>
          <a:prstGeom prst="rect">
            <a:avLst/>
          </a:prstGeom>
          <a:noFill/>
          <a:ln/>
        </p:spPr>
        <p:txBody>
          <a:bodyPr wrap="none" lIns="0" tIns="0" rIns="0" bIns="0" rtlCol="0" anchor="t"/>
          <a:lstStyle/>
          <a:p>
            <a:pPr algn="l" indent="0" marL="0">
              <a:lnSpc>
                <a:spcPct val="104000"/>
              </a:lnSpc>
              <a:buNone/>
            </a:pPr>
            <a:r>
              <a:rPr lang="en-US" sz="2200" dirty="0">
                <a:solidFill>
                  <a:srgbClr val="F2D4BA"/>
                </a:solidFill>
                <a:latin typeface="Prata" pitchFamily="34" charset="0"/>
                <a:ea typeface="Prata" pitchFamily="34" charset="-122"/>
                <a:cs typeface="Prata" pitchFamily="34" charset="-120"/>
              </a:rPr>
              <a:t>Application Architecture</a:t>
            </a:r>
            <a:endParaRPr lang="en-US" sz="2200" dirty="0"/>
          </a:p>
        </p:txBody>
      </p:sp>
      <p:pic>
        <p:nvPicPr>
          <p:cNvPr id="3" name="Image 0" descr="preencoded.png">    </p:cNvPr>
          <p:cNvPicPr>
            <a:picLocks noChangeAspect="1"/>
          </p:cNvPicPr>
          <p:nvPr/>
        </p:nvPicPr>
        <p:blipFill>
          <a:blip r:embed="rId1"/>
          <a:stretch>
            <a:fillRect/>
          </a:stretch>
        </p:blipFill>
        <p:spPr>
          <a:xfrm>
            <a:off x="449610" y="901526"/>
            <a:ext cx="7352556" cy="3609454"/>
          </a:xfrm>
          <a:prstGeom prst="rect">
            <a:avLst/>
          </a:prstGeom>
        </p:spPr>
      </p:pic>
      <p:sp>
        <p:nvSpPr>
          <p:cNvPr id="4" name="Text 1"/>
          <p:cNvSpPr/>
          <p:nvPr/>
        </p:nvSpPr>
        <p:spPr>
          <a:xfrm>
            <a:off x="449610" y="4625578"/>
            <a:ext cx="8694390" cy="171450"/>
          </a:xfrm>
          <a:prstGeom prst="rect">
            <a:avLst/>
          </a:prstGeom>
          <a:noFill/>
          <a:ln/>
        </p:spPr>
        <p:txBody>
          <a:bodyPr wrap="none" lIns="0" tIns="0" rIns="0" bIns="0" rtlCol="0" anchor="t"/>
          <a:lstStyle/>
          <a:p>
            <a:pPr algn="l" indent="0" marL="0">
              <a:lnSpc>
                <a:spcPct val="127000"/>
              </a:lnSpc>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126531" y="203746"/>
            <a:ext cx="433462" cy="96738"/>
          </a:xfrm>
          <a:prstGeom prst="roundRect">
            <a:avLst>
              <a:gd name="adj" fmla="val 7694"/>
            </a:avLst>
          </a:prstGeom>
          <a:solidFill>
            <a:srgbClr val="391F13"/>
          </a:solidFill>
          <a:ln/>
        </p:spPr>
      </p:sp>
      <p:sp>
        <p:nvSpPr>
          <p:cNvPr id="3" name="Text 1"/>
          <p:cNvSpPr/>
          <p:nvPr/>
        </p:nvSpPr>
        <p:spPr>
          <a:xfrm>
            <a:off x="2163738" y="222349"/>
            <a:ext cx="816248" cy="59531"/>
          </a:xfrm>
          <a:prstGeom prst="rect">
            <a:avLst/>
          </a:prstGeom>
          <a:noFill/>
          <a:ln/>
        </p:spPr>
        <p:txBody>
          <a:bodyPr wrap="none" lIns="0" tIns="0" rIns="0" bIns="0" rtlCol="0" anchor="t"/>
          <a:lstStyle/>
          <a:p>
            <a:pPr algn="l" indent="0" marL="0">
              <a:lnSpc>
                <a:spcPct val="100000"/>
              </a:lnSpc>
              <a:buNone/>
            </a:pPr>
            <a:r>
              <a:rPr lang="en-US" sz="350" dirty="0">
                <a:solidFill>
                  <a:srgbClr val="BDA189"/>
                </a:solidFill>
                <a:latin typeface="Manrope" pitchFamily="34" charset="0"/>
                <a:ea typeface="Manrope" pitchFamily="34" charset="-122"/>
                <a:cs typeface="Manrope" pitchFamily="34" charset="-120"/>
              </a:rPr>
              <a:t>ARCHITECTURE</a:t>
            </a:r>
            <a:endParaRPr lang="en-US" sz="350" dirty="0"/>
          </a:p>
        </p:txBody>
      </p:sp>
      <p:sp>
        <p:nvSpPr>
          <p:cNvPr id="4" name="Text 2"/>
          <p:cNvSpPr/>
          <p:nvPr/>
        </p:nvSpPr>
        <p:spPr>
          <a:xfrm>
            <a:off x="2126531" y="312837"/>
            <a:ext cx="2451497" cy="193849"/>
          </a:xfrm>
          <a:prstGeom prst="rect">
            <a:avLst/>
          </a:prstGeom>
          <a:noFill/>
          <a:ln/>
        </p:spPr>
        <p:txBody>
          <a:bodyPr wrap="none" lIns="0" tIns="0" rIns="0" bIns="0" rtlCol="0" anchor="t"/>
          <a:lstStyle/>
          <a:p>
            <a:pPr algn="l" indent="0" marL="0">
              <a:lnSpc>
                <a:spcPct val="104000"/>
              </a:lnSpc>
              <a:buNone/>
            </a:pPr>
            <a:r>
              <a:rPr lang="en-US" sz="1200" dirty="0">
                <a:solidFill>
                  <a:srgbClr val="F2D4BA"/>
                </a:solidFill>
                <a:latin typeface="Prata" pitchFamily="34" charset="0"/>
                <a:ea typeface="Prata" pitchFamily="34" charset="-122"/>
                <a:cs typeface="Prata" pitchFamily="34" charset="-120"/>
              </a:rPr>
              <a:t>Overall Azure Architecture</a:t>
            </a:r>
            <a:endParaRPr lang="en-US" sz="1200" dirty="0"/>
          </a:p>
        </p:txBody>
      </p:sp>
      <p:sp>
        <p:nvSpPr>
          <p:cNvPr id="5" name="Text 3"/>
          <p:cNvSpPr/>
          <p:nvPr/>
        </p:nvSpPr>
        <p:spPr>
          <a:xfrm>
            <a:off x="2126531" y="553194"/>
            <a:ext cx="5348139" cy="74340"/>
          </a:xfrm>
          <a:prstGeom prst="rect">
            <a:avLst/>
          </a:prstGeom>
          <a:noFill/>
          <a:ln/>
        </p:spPr>
        <p:txBody>
          <a:bodyPr wrap="none" lIns="0" tIns="0" rIns="0" bIns="0" rtlCol="0" anchor="t"/>
          <a:lstStyle/>
          <a:p>
            <a:pPr algn="l" indent="0" marL="0">
              <a:lnSpc>
                <a:spcPct val="100000"/>
              </a:lnSpc>
              <a:buNone/>
            </a:pPr>
            <a:endParaRPr lang="en-US" sz="450" dirty="0"/>
          </a:p>
        </p:txBody>
      </p:sp>
      <p:pic>
        <p:nvPicPr>
          <p:cNvPr id="6" name="Image 0" descr="preencoded.png">    </p:cNvPr>
          <p:cNvPicPr>
            <a:picLocks noChangeAspect="1"/>
          </p:cNvPicPr>
          <p:nvPr/>
        </p:nvPicPr>
        <p:blipFill>
          <a:blip r:embed="rId1"/>
          <a:stretch>
            <a:fillRect/>
          </a:stretch>
        </p:blipFill>
        <p:spPr>
          <a:xfrm>
            <a:off x="2126531" y="662360"/>
            <a:ext cx="4067919" cy="42773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45219" y="323180"/>
            <a:ext cx="1191667" cy="186110"/>
          </a:xfrm>
          <a:prstGeom prst="roundRect">
            <a:avLst>
              <a:gd name="adj" fmla="val 6749"/>
            </a:avLst>
          </a:prstGeom>
          <a:solidFill>
            <a:srgbClr val="391F13"/>
          </a:solidFill>
          <a:ln/>
        </p:spPr>
      </p:sp>
      <p:sp>
        <p:nvSpPr>
          <p:cNvPr id="3" name="Text 1"/>
          <p:cNvSpPr/>
          <p:nvPr/>
        </p:nvSpPr>
        <p:spPr>
          <a:xfrm>
            <a:off x="507950" y="354509"/>
            <a:ext cx="1523405" cy="123453"/>
          </a:xfrm>
          <a:prstGeom prst="rect">
            <a:avLst/>
          </a:prstGeom>
          <a:noFill/>
          <a:ln/>
        </p:spPr>
        <p:txBody>
          <a:bodyPr wrap="none" lIns="0" tIns="0" rIns="0" bIns="0" rtlCol="0" anchor="t"/>
          <a:lstStyle/>
          <a:p>
            <a:pPr algn="l" indent="0" marL="0">
              <a:lnSpc>
                <a:spcPct val="123000"/>
              </a:lnSpc>
              <a:buNone/>
            </a:pPr>
            <a:r>
              <a:rPr lang="en-US" sz="650" dirty="0">
                <a:solidFill>
                  <a:srgbClr val="BDA189"/>
                </a:solidFill>
                <a:latin typeface="Manrope" pitchFamily="34" charset="0"/>
                <a:ea typeface="Manrope" pitchFamily="34" charset="-122"/>
                <a:cs typeface="Manrope" pitchFamily="34" charset="-120"/>
              </a:rPr>
              <a:t>INFRASTRUCTURE AS CODE</a:t>
            </a:r>
            <a:endParaRPr lang="en-US" sz="650" dirty="0"/>
          </a:p>
        </p:txBody>
      </p:sp>
      <p:sp>
        <p:nvSpPr>
          <p:cNvPr id="4" name="Text 2"/>
          <p:cNvSpPr/>
          <p:nvPr/>
        </p:nvSpPr>
        <p:spPr>
          <a:xfrm>
            <a:off x="445219" y="544562"/>
            <a:ext cx="4760193" cy="327050"/>
          </a:xfrm>
          <a:prstGeom prst="rect">
            <a:avLst/>
          </a:prstGeom>
          <a:noFill/>
          <a:ln/>
        </p:spPr>
        <p:txBody>
          <a:bodyPr wrap="none" lIns="0" tIns="0" rIns="0" bIns="0" rtlCol="0" anchor="t"/>
          <a:lstStyle/>
          <a:p>
            <a:pPr algn="l" indent="0" marL="0">
              <a:lnSpc>
                <a:spcPct val="104000"/>
              </a:lnSpc>
              <a:buNone/>
            </a:pPr>
            <a:r>
              <a:rPr lang="en-US" sz="2050" dirty="0">
                <a:solidFill>
                  <a:srgbClr val="F2D4BA"/>
                </a:solidFill>
                <a:latin typeface="Prata" pitchFamily="34" charset="0"/>
                <a:ea typeface="Prata" pitchFamily="34" charset="-122"/>
                <a:cs typeface="Prata" pitchFamily="34" charset="-120"/>
              </a:rPr>
              <a:t>Terraform Module-Wise Structure</a:t>
            </a:r>
            <a:endParaRPr lang="en-US" sz="2050" dirty="0"/>
          </a:p>
        </p:txBody>
      </p:sp>
      <p:sp>
        <p:nvSpPr>
          <p:cNvPr id="5" name="Text 3"/>
          <p:cNvSpPr/>
          <p:nvPr/>
        </p:nvSpPr>
        <p:spPr>
          <a:xfrm>
            <a:off x="445219" y="1004069"/>
            <a:ext cx="8253487" cy="46322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Instead of one monolithic file, infrastructure is split into </a:t>
            </a:r>
            <a:pPr algn="l" indent="0" marL="0">
              <a:lnSpc>
                <a:spcPct val="123000"/>
              </a:lnSpc>
              <a:buNone/>
            </a:pPr>
            <a:r>
              <a:rPr lang="en-US" sz="800" b="1" dirty="0">
                <a:solidFill>
                  <a:srgbClr val="BDA189"/>
                </a:solidFill>
                <a:latin typeface="Manrope" pitchFamily="34" charset="0"/>
                <a:ea typeface="Manrope" pitchFamily="34" charset="-122"/>
                <a:cs typeface="Manrope" pitchFamily="34" charset="-120"/>
              </a:rPr>
              <a:t>13 focused modules</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 each handling one concern. Every module contains exactly three files: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main.tf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(what to create),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variables.tf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(inputs needed), and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outputs.tf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(values exposed to other modules). Root orchestrator files: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main.tf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variables.tf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outputs.tf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terraform.tfvars</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versions.tf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 and </a:t>
            </a:r>
            <a:pPr algn="l" indent="0" marL="0">
              <a:lnSpc>
                <a:spcPct val="123000"/>
              </a:lnSpc>
              <a:buNone/>
            </a:pPr>
            <a:r>
              <a:rPr lang="en-US" sz="800" dirty="0">
                <a:solidFill>
                  <a:srgbClr val="BDA189"/>
                </a:solidFill>
                <a:highlight>
                  <a:srgbClr val="2E3033"/>
                </a:highlight>
                <a:latin typeface="Consolas" pitchFamily="34" charset="0"/>
                <a:ea typeface="Consolas" pitchFamily="34" charset="-122"/>
                <a:cs typeface="Consolas" pitchFamily="34" charset="-120"/>
              </a:rPr>
              <a:t>backend.tf</a:t>
            </a:r>
            <a:pPr algn="l" indent="0" marL="0">
              <a:lnSpc>
                <a:spcPct val="123000"/>
              </a:lnSpc>
              <a:buNone/>
            </a:pPr>
            <a:r>
              <a:rPr lang="en-US" sz="800" dirty="0">
                <a:solidFill>
                  <a:srgbClr val="BDA189"/>
                </a:solidFill>
                <a:latin typeface="Manrope" pitchFamily="34" charset="0"/>
                <a:ea typeface="Manrope" pitchFamily="34" charset="-122"/>
                <a:cs typeface="Manrope" pitchFamily="34" charset="-120"/>
              </a:rPr>
              <a:t>.</a:t>
            </a:r>
            <a:endParaRPr lang="en-US" sz="800" dirty="0"/>
          </a:p>
        </p:txBody>
      </p:sp>
      <p:sp>
        <p:nvSpPr>
          <p:cNvPr id="6" name="Shape 4"/>
          <p:cNvSpPr/>
          <p:nvPr/>
        </p:nvSpPr>
        <p:spPr>
          <a:xfrm>
            <a:off x="445219" y="1566639"/>
            <a:ext cx="2692301" cy="580132"/>
          </a:xfrm>
          <a:prstGeom prst="roundRect">
            <a:avLst>
              <a:gd name="adj" fmla="val 2706"/>
            </a:avLst>
          </a:prstGeom>
          <a:solidFill>
            <a:srgbClr val="404245"/>
          </a:solidFill>
          <a:ln/>
        </p:spPr>
      </p:sp>
      <p:sp>
        <p:nvSpPr>
          <p:cNvPr id="7" name="Text 5"/>
          <p:cNvSpPr/>
          <p:nvPr/>
        </p:nvSpPr>
        <p:spPr>
          <a:xfrm>
            <a:off x="549846" y="1671265"/>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1. Resource Group</a:t>
            </a:r>
            <a:endParaRPr lang="en-US" sz="1000" dirty="0"/>
          </a:p>
        </p:txBody>
      </p:sp>
      <p:sp>
        <p:nvSpPr>
          <p:cNvPr id="8" name="Text 6"/>
          <p:cNvSpPr/>
          <p:nvPr/>
        </p:nvSpPr>
        <p:spPr>
          <a:xfrm>
            <a:off x="549846" y="1887736"/>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Container for all resources</a:t>
            </a:r>
            <a:endParaRPr lang="en-US" sz="800" dirty="0"/>
          </a:p>
        </p:txBody>
      </p:sp>
      <p:sp>
        <p:nvSpPr>
          <p:cNvPr id="9" name="Shape 7"/>
          <p:cNvSpPr/>
          <p:nvPr/>
        </p:nvSpPr>
        <p:spPr>
          <a:xfrm>
            <a:off x="3225775" y="1566639"/>
            <a:ext cx="2692301" cy="580132"/>
          </a:xfrm>
          <a:prstGeom prst="roundRect">
            <a:avLst>
              <a:gd name="adj" fmla="val 2706"/>
            </a:avLst>
          </a:prstGeom>
          <a:solidFill>
            <a:srgbClr val="404245"/>
          </a:solidFill>
          <a:ln/>
        </p:spPr>
      </p:sp>
      <p:sp>
        <p:nvSpPr>
          <p:cNvPr id="10" name="Text 8"/>
          <p:cNvSpPr/>
          <p:nvPr/>
        </p:nvSpPr>
        <p:spPr>
          <a:xfrm>
            <a:off x="3330401" y="1671265"/>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2. Networking</a:t>
            </a:r>
            <a:endParaRPr lang="en-US" sz="1000" dirty="0"/>
          </a:p>
        </p:txBody>
      </p:sp>
      <p:sp>
        <p:nvSpPr>
          <p:cNvPr id="11" name="Text 9"/>
          <p:cNvSpPr/>
          <p:nvPr/>
        </p:nvSpPr>
        <p:spPr>
          <a:xfrm>
            <a:off x="3330401" y="1887736"/>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VNet and all subnets</a:t>
            </a:r>
            <a:endParaRPr lang="en-US" sz="800" dirty="0"/>
          </a:p>
        </p:txBody>
      </p:sp>
      <p:sp>
        <p:nvSpPr>
          <p:cNvPr id="12" name="Shape 10"/>
          <p:cNvSpPr/>
          <p:nvPr/>
        </p:nvSpPr>
        <p:spPr>
          <a:xfrm>
            <a:off x="6006331" y="1566639"/>
            <a:ext cx="2692301" cy="580132"/>
          </a:xfrm>
          <a:prstGeom prst="roundRect">
            <a:avLst>
              <a:gd name="adj" fmla="val 2706"/>
            </a:avLst>
          </a:prstGeom>
          <a:solidFill>
            <a:srgbClr val="404245"/>
          </a:solidFill>
          <a:ln/>
        </p:spPr>
      </p:sp>
      <p:sp>
        <p:nvSpPr>
          <p:cNvPr id="13" name="Text 11"/>
          <p:cNvSpPr/>
          <p:nvPr/>
        </p:nvSpPr>
        <p:spPr>
          <a:xfrm>
            <a:off x="6110957" y="1671265"/>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3. ACR</a:t>
            </a:r>
            <a:endParaRPr lang="en-US" sz="1000" dirty="0"/>
          </a:p>
        </p:txBody>
      </p:sp>
      <p:sp>
        <p:nvSpPr>
          <p:cNvPr id="14" name="Text 12"/>
          <p:cNvSpPr/>
          <p:nvPr/>
        </p:nvSpPr>
        <p:spPr>
          <a:xfrm>
            <a:off x="6110957" y="1887736"/>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Private container registry</a:t>
            </a:r>
            <a:endParaRPr lang="en-US" sz="800" dirty="0"/>
          </a:p>
        </p:txBody>
      </p:sp>
      <p:sp>
        <p:nvSpPr>
          <p:cNvPr id="15" name="Shape 13"/>
          <p:cNvSpPr/>
          <p:nvPr/>
        </p:nvSpPr>
        <p:spPr>
          <a:xfrm>
            <a:off x="445219" y="2235026"/>
            <a:ext cx="2692301" cy="580132"/>
          </a:xfrm>
          <a:prstGeom prst="roundRect">
            <a:avLst>
              <a:gd name="adj" fmla="val 2706"/>
            </a:avLst>
          </a:prstGeom>
          <a:solidFill>
            <a:srgbClr val="404245"/>
          </a:solidFill>
          <a:ln/>
        </p:spPr>
      </p:sp>
      <p:sp>
        <p:nvSpPr>
          <p:cNvPr id="16" name="Text 14"/>
          <p:cNvSpPr/>
          <p:nvPr/>
        </p:nvSpPr>
        <p:spPr>
          <a:xfrm>
            <a:off x="549846" y="2339653"/>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4. Entra ID</a:t>
            </a:r>
            <a:endParaRPr lang="en-US" sz="1000" dirty="0"/>
          </a:p>
        </p:txBody>
      </p:sp>
      <p:sp>
        <p:nvSpPr>
          <p:cNvPr id="17" name="Text 15"/>
          <p:cNvSpPr/>
          <p:nvPr/>
        </p:nvSpPr>
        <p:spPr>
          <a:xfrm>
            <a:off x="549846" y="2556123"/>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App registration and user roles</a:t>
            </a:r>
            <a:endParaRPr lang="en-US" sz="800" dirty="0"/>
          </a:p>
        </p:txBody>
      </p:sp>
      <p:sp>
        <p:nvSpPr>
          <p:cNvPr id="18" name="Shape 16"/>
          <p:cNvSpPr/>
          <p:nvPr/>
        </p:nvSpPr>
        <p:spPr>
          <a:xfrm>
            <a:off x="3225775" y="2235026"/>
            <a:ext cx="2692301" cy="580132"/>
          </a:xfrm>
          <a:prstGeom prst="roundRect">
            <a:avLst>
              <a:gd name="adj" fmla="val 2706"/>
            </a:avLst>
          </a:prstGeom>
          <a:solidFill>
            <a:srgbClr val="404245"/>
          </a:solidFill>
          <a:ln/>
        </p:spPr>
      </p:sp>
      <p:sp>
        <p:nvSpPr>
          <p:cNvPr id="19" name="Text 17"/>
          <p:cNvSpPr/>
          <p:nvPr/>
        </p:nvSpPr>
        <p:spPr>
          <a:xfrm>
            <a:off x="3330401" y="2339653"/>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5. Key Vault</a:t>
            </a:r>
            <a:endParaRPr lang="en-US" sz="1000" dirty="0"/>
          </a:p>
        </p:txBody>
      </p:sp>
      <p:sp>
        <p:nvSpPr>
          <p:cNvPr id="20" name="Text 18"/>
          <p:cNvSpPr/>
          <p:nvPr/>
        </p:nvSpPr>
        <p:spPr>
          <a:xfrm>
            <a:off x="3330401" y="2556123"/>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Central secret storage</a:t>
            </a:r>
            <a:endParaRPr lang="en-US" sz="800" dirty="0"/>
          </a:p>
        </p:txBody>
      </p:sp>
      <p:sp>
        <p:nvSpPr>
          <p:cNvPr id="21" name="Shape 19"/>
          <p:cNvSpPr/>
          <p:nvPr/>
        </p:nvSpPr>
        <p:spPr>
          <a:xfrm>
            <a:off x="6006331" y="2235026"/>
            <a:ext cx="2692301" cy="580132"/>
          </a:xfrm>
          <a:prstGeom prst="roundRect">
            <a:avLst>
              <a:gd name="adj" fmla="val 2706"/>
            </a:avLst>
          </a:prstGeom>
          <a:solidFill>
            <a:srgbClr val="404245"/>
          </a:solidFill>
          <a:ln/>
        </p:spPr>
      </p:sp>
      <p:sp>
        <p:nvSpPr>
          <p:cNvPr id="22" name="Text 20"/>
          <p:cNvSpPr/>
          <p:nvPr/>
        </p:nvSpPr>
        <p:spPr>
          <a:xfrm>
            <a:off x="6110957" y="2339653"/>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6. Monitoring</a:t>
            </a:r>
            <a:endParaRPr lang="en-US" sz="1000" dirty="0"/>
          </a:p>
        </p:txBody>
      </p:sp>
      <p:sp>
        <p:nvSpPr>
          <p:cNvPr id="23" name="Text 21"/>
          <p:cNvSpPr/>
          <p:nvPr/>
        </p:nvSpPr>
        <p:spPr>
          <a:xfrm>
            <a:off x="6110957" y="2556123"/>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Log Analytics and alerts</a:t>
            </a:r>
            <a:endParaRPr lang="en-US" sz="800" dirty="0"/>
          </a:p>
        </p:txBody>
      </p:sp>
      <p:sp>
        <p:nvSpPr>
          <p:cNvPr id="24" name="Shape 22"/>
          <p:cNvSpPr/>
          <p:nvPr/>
        </p:nvSpPr>
        <p:spPr>
          <a:xfrm>
            <a:off x="445219" y="2903413"/>
            <a:ext cx="2692301" cy="580132"/>
          </a:xfrm>
          <a:prstGeom prst="roundRect">
            <a:avLst>
              <a:gd name="adj" fmla="val 2706"/>
            </a:avLst>
          </a:prstGeom>
          <a:solidFill>
            <a:srgbClr val="404245"/>
          </a:solidFill>
          <a:ln/>
        </p:spPr>
      </p:sp>
      <p:sp>
        <p:nvSpPr>
          <p:cNvPr id="25" name="Text 23"/>
          <p:cNvSpPr/>
          <p:nvPr/>
        </p:nvSpPr>
        <p:spPr>
          <a:xfrm>
            <a:off x="549846" y="3008040"/>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7. AKS</a:t>
            </a:r>
            <a:endParaRPr lang="en-US" sz="1000" dirty="0"/>
          </a:p>
        </p:txBody>
      </p:sp>
      <p:sp>
        <p:nvSpPr>
          <p:cNvPr id="26" name="Text 24"/>
          <p:cNvSpPr/>
          <p:nvPr/>
        </p:nvSpPr>
        <p:spPr>
          <a:xfrm>
            <a:off x="549846" y="3224510"/>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Core Kubernetes cluster</a:t>
            </a:r>
            <a:endParaRPr lang="en-US" sz="800" dirty="0"/>
          </a:p>
        </p:txBody>
      </p:sp>
      <p:sp>
        <p:nvSpPr>
          <p:cNvPr id="27" name="Shape 25"/>
          <p:cNvSpPr/>
          <p:nvPr/>
        </p:nvSpPr>
        <p:spPr>
          <a:xfrm>
            <a:off x="3225775" y="2903413"/>
            <a:ext cx="2692301" cy="580132"/>
          </a:xfrm>
          <a:prstGeom prst="roundRect">
            <a:avLst>
              <a:gd name="adj" fmla="val 2706"/>
            </a:avLst>
          </a:prstGeom>
          <a:solidFill>
            <a:srgbClr val="404245"/>
          </a:solidFill>
          <a:ln/>
        </p:spPr>
      </p:sp>
      <p:sp>
        <p:nvSpPr>
          <p:cNvPr id="28" name="Text 26"/>
          <p:cNvSpPr/>
          <p:nvPr/>
        </p:nvSpPr>
        <p:spPr>
          <a:xfrm>
            <a:off x="3330401" y="3008040"/>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8. Cosmos DB</a:t>
            </a:r>
            <a:endParaRPr lang="en-US" sz="1000" dirty="0"/>
          </a:p>
        </p:txBody>
      </p:sp>
      <p:sp>
        <p:nvSpPr>
          <p:cNvPr id="29" name="Text 27"/>
          <p:cNvSpPr/>
          <p:nvPr/>
        </p:nvSpPr>
        <p:spPr>
          <a:xfrm>
            <a:off x="3330401" y="3224510"/>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MongoDB database</a:t>
            </a:r>
            <a:endParaRPr lang="en-US" sz="800" dirty="0"/>
          </a:p>
        </p:txBody>
      </p:sp>
      <p:sp>
        <p:nvSpPr>
          <p:cNvPr id="30" name="Shape 28"/>
          <p:cNvSpPr/>
          <p:nvPr/>
        </p:nvSpPr>
        <p:spPr>
          <a:xfrm>
            <a:off x="6006331" y="2903413"/>
            <a:ext cx="2692301" cy="580132"/>
          </a:xfrm>
          <a:prstGeom prst="roundRect">
            <a:avLst>
              <a:gd name="adj" fmla="val 2706"/>
            </a:avLst>
          </a:prstGeom>
          <a:solidFill>
            <a:srgbClr val="404245"/>
          </a:solidFill>
          <a:ln/>
        </p:spPr>
      </p:sp>
      <p:sp>
        <p:nvSpPr>
          <p:cNvPr id="31" name="Text 29"/>
          <p:cNvSpPr/>
          <p:nvPr/>
        </p:nvSpPr>
        <p:spPr>
          <a:xfrm>
            <a:off x="6110957" y="3008040"/>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9. Blob Storage</a:t>
            </a:r>
            <a:endParaRPr lang="en-US" sz="1000" dirty="0"/>
          </a:p>
        </p:txBody>
      </p:sp>
      <p:sp>
        <p:nvSpPr>
          <p:cNvPr id="32" name="Text 30"/>
          <p:cNvSpPr/>
          <p:nvPr/>
        </p:nvSpPr>
        <p:spPr>
          <a:xfrm>
            <a:off x="6110957" y="3224510"/>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File storage</a:t>
            </a:r>
            <a:endParaRPr lang="en-US" sz="800" dirty="0"/>
          </a:p>
        </p:txBody>
      </p:sp>
      <p:sp>
        <p:nvSpPr>
          <p:cNvPr id="33" name="Shape 31"/>
          <p:cNvSpPr/>
          <p:nvPr/>
        </p:nvSpPr>
        <p:spPr>
          <a:xfrm>
            <a:off x="445219" y="3571801"/>
            <a:ext cx="2692301" cy="580132"/>
          </a:xfrm>
          <a:prstGeom prst="roundRect">
            <a:avLst>
              <a:gd name="adj" fmla="val 2706"/>
            </a:avLst>
          </a:prstGeom>
          <a:solidFill>
            <a:srgbClr val="404245"/>
          </a:solidFill>
          <a:ln/>
        </p:spPr>
      </p:sp>
      <p:sp>
        <p:nvSpPr>
          <p:cNvPr id="34" name="Text 32"/>
          <p:cNvSpPr/>
          <p:nvPr/>
        </p:nvSpPr>
        <p:spPr>
          <a:xfrm>
            <a:off x="549846" y="3676427"/>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10. App Gateway</a:t>
            </a:r>
            <a:endParaRPr lang="en-US" sz="1000" dirty="0"/>
          </a:p>
        </p:txBody>
      </p:sp>
      <p:sp>
        <p:nvSpPr>
          <p:cNvPr id="35" name="Text 33"/>
          <p:cNvSpPr/>
          <p:nvPr/>
        </p:nvSpPr>
        <p:spPr>
          <a:xfrm>
            <a:off x="549846" y="3892897"/>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WAF and load balancing</a:t>
            </a:r>
            <a:endParaRPr lang="en-US" sz="800" dirty="0"/>
          </a:p>
        </p:txBody>
      </p:sp>
      <p:sp>
        <p:nvSpPr>
          <p:cNvPr id="36" name="Shape 34"/>
          <p:cNvSpPr/>
          <p:nvPr/>
        </p:nvSpPr>
        <p:spPr>
          <a:xfrm>
            <a:off x="3225775" y="3571801"/>
            <a:ext cx="2692301" cy="580132"/>
          </a:xfrm>
          <a:prstGeom prst="roundRect">
            <a:avLst>
              <a:gd name="adj" fmla="val 2706"/>
            </a:avLst>
          </a:prstGeom>
          <a:solidFill>
            <a:srgbClr val="404245"/>
          </a:solidFill>
          <a:ln/>
        </p:spPr>
      </p:sp>
      <p:sp>
        <p:nvSpPr>
          <p:cNvPr id="37" name="Text 35"/>
          <p:cNvSpPr/>
          <p:nvPr/>
        </p:nvSpPr>
        <p:spPr>
          <a:xfrm>
            <a:off x="3330401" y="3676427"/>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11. Front Door</a:t>
            </a:r>
            <a:endParaRPr lang="en-US" sz="1000" dirty="0"/>
          </a:p>
        </p:txBody>
      </p:sp>
      <p:sp>
        <p:nvSpPr>
          <p:cNvPr id="38" name="Text 36"/>
          <p:cNvSpPr/>
          <p:nvPr/>
        </p:nvSpPr>
        <p:spPr>
          <a:xfrm>
            <a:off x="3330401" y="3892897"/>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Global CDN</a:t>
            </a:r>
            <a:endParaRPr lang="en-US" sz="800" dirty="0"/>
          </a:p>
        </p:txBody>
      </p:sp>
      <p:sp>
        <p:nvSpPr>
          <p:cNvPr id="39" name="Shape 37"/>
          <p:cNvSpPr/>
          <p:nvPr/>
        </p:nvSpPr>
        <p:spPr>
          <a:xfrm>
            <a:off x="6006331" y="3571801"/>
            <a:ext cx="2692301" cy="580132"/>
          </a:xfrm>
          <a:prstGeom prst="roundRect">
            <a:avLst>
              <a:gd name="adj" fmla="val 2706"/>
            </a:avLst>
          </a:prstGeom>
          <a:solidFill>
            <a:srgbClr val="404245"/>
          </a:solidFill>
          <a:ln/>
        </p:spPr>
      </p:sp>
      <p:sp>
        <p:nvSpPr>
          <p:cNvPr id="40" name="Text 38"/>
          <p:cNvSpPr/>
          <p:nvPr/>
        </p:nvSpPr>
        <p:spPr>
          <a:xfrm>
            <a:off x="6110957" y="3676427"/>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12. Service Bus</a:t>
            </a:r>
            <a:endParaRPr lang="en-US" sz="1000" dirty="0"/>
          </a:p>
        </p:txBody>
      </p:sp>
      <p:sp>
        <p:nvSpPr>
          <p:cNvPr id="41" name="Text 39"/>
          <p:cNvSpPr/>
          <p:nvPr/>
        </p:nvSpPr>
        <p:spPr>
          <a:xfrm>
            <a:off x="6110957" y="3892897"/>
            <a:ext cx="2483048"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Async messaging</a:t>
            </a:r>
            <a:endParaRPr lang="en-US" sz="800" dirty="0"/>
          </a:p>
        </p:txBody>
      </p:sp>
      <p:sp>
        <p:nvSpPr>
          <p:cNvPr id="42" name="Shape 40"/>
          <p:cNvSpPr/>
          <p:nvPr/>
        </p:nvSpPr>
        <p:spPr>
          <a:xfrm>
            <a:off x="445219" y="4240188"/>
            <a:ext cx="8253413" cy="580132"/>
          </a:xfrm>
          <a:prstGeom prst="roundRect">
            <a:avLst>
              <a:gd name="adj" fmla="val 2706"/>
            </a:avLst>
          </a:prstGeom>
          <a:solidFill>
            <a:srgbClr val="404245"/>
          </a:solidFill>
          <a:ln/>
        </p:spPr>
      </p:sp>
      <p:sp>
        <p:nvSpPr>
          <p:cNvPr id="43" name="Text 41"/>
          <p:cNvSpPr/>
          <p:nvPr/>
        </p:nvSpPr>
        <p:spPr>
          <a:xfrm>
            <a:off x="549846" y="4344814"/>
            <a:ext cx="1308274" cy="163488"/>
          </a:xfrm>
          <a:prstGeom prst="rect">
            <a:avLst/>
          </a:prstGeom>
          <a:noFill/>
          <a:ln/>
        </p:spPr>
        <p:txBody>
          <a:bodyPr wrap="none" lIns="0" tIns="0" rIns="0" bIns="0" rtlCol="0" anchor="t"/>
          <a:lstStyle/>
          <a:p>
            <a:pPr algn="l" indent="0" marL="0">
              <a:lnSpc>
                <a:spcPct val="104000"/>
              </a:lnSpc>
              <a:buNone/>
            </a:pPr>
            <a:r>
              <a:rPr lang="en-US" sz="1000" dirty="0">
                <a:solidFill>
                  <a:srgbClr val="FFFFFF"/>
                </a:solidFill>
                <a:latin typeface="Prata" pitchFamily="34" charset="0"/>
                <a:ea typeface="Prata" pitchFamily="34" charset="-122"/>
                <a:cs typeface="Prata" pitchFamily="34" charset="-120"/>
              </a:rPr>
              <a:t>13. AI Foundry</a:t>
            </a:r>
            <a:endParaRPr lang="en-US" sz="1000" dirty="0"/>
          </a:p>
        </p:txBody>
      </p:sp>
      <p:sp>
        <p:nvSpPr>
          <p:cNvPr id="44" name="Text 42"/>
          <p:cNvSpPr/>
          <p:nvPr/>
        </p:nvSpPr>
        <p:spPr>
          <a:xfrm>
            <a:off x="549846" y="4561284"/>
            <a:ext cx="8044160" cy="154409"/>
          </a:xfrm>
          <a:prstGeom prst="rect">
            <a:avLst/>
          </a:prstGeom>
          <a:noFill/>
          <a:ln/>
        </p:spPr>
        <p:txBody>
          <a:bodyPr wrap="none" lIns="0" tIns="0" rIns="0" bIns="0" rtlCol="0" anchor="t"/>
          <a:lstStyle/>
          <a:p>
            <a:pPr algn="l" indent="0" marL="0">
              <a:lnSpc>
                <a:spcPct val="123000"/>
              </a:lnSpc>
              <a:buNone/>
            </a:pPr>
            <a:r>
              <a:rPr lang="en-US" sz="800" dirty="0">
                <a:solidFill>
                  <a:srgbClr val="FFFFFF"/>
                </a:solidFill>
                <a:latin typeface="Manrope" pitchFamily="34" charset="0"/>
                <a:ea typeface="Manrope" pitchFamily="34" charset="-122"/>
                <a:cs typeface="Manrope" pitchFamily="34" charset="-120"/>
              </a:rPr>
              <a:t>AI models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98066" y="312613"/>
            <a:ext cx="900410" cy="177329"/>
          </a:xfrm>
          <a:prstGeom prst="roundRect">
            <a:avLst>
              <a:gd name="adj" fmla="val 6820"/>
            </a:avLst>
          </a:prstGeom>
          <a:solidFill>
            <a:srgbClr val="391F13"/>
          </a:solidFill>
          <a:ln/>
        </p:spPr>
      </p:sp>
      <p:sp>
        <p:nvSpPr>
          <p:cNvPr id="3" name="Text 1"/>
          <p:cNvSpPr/>
          <p:nvPr/>
        </p:nvSpPr>
        <p:spPr>
          <a:xfrm>
            <a:off x="658490" y="342826"/>
            <a:ext cx="1236762" cy="116904"/>
          </a:xfrm>
          <a:prstGeom prst="rect">
            <a:avLst/>
          </a:prstGeom>
          <a:noFill/>
          <a:ln/>
        </p:spPr>
        <p:txBody>
          <a:bodyPr wrap="none" lIns="0" tIns="0" rIns="0" bIns="0" rtlCol="0" anchor="t"/>
          <a:lstStyle/>
          <a:p>
            <a:pPr algn="l" indent="0" marL="0">
              <a:lnSpc>
                <a:spcPct val="121000"/>
              </a:lnSpc>
              <a:buNone/>
            </a:pPr>
            <a:r>
              <a:rPr lang="en-US" sz="600" dirty="0">
                <a:solidFill>
                  <a:srgbClr val="BDA189"/>
                </a:solidFill>
                <a:latin typeface="Manrope" pitchFamily="34" charset="0"/>
                <a:ea typeface="Manrope" pitchFamily="34" charset="-122"/>
                <a:cs typeface="Manrope" pitchFamily="34" charset="-120"/>
              </a:rPr>
              <a:t>DEPLOYMENT ORDER</a:t>
            </a:r>
            <a:endParaRPr lang="en-US" sz="600" dirty="0"/>
          </a:p>
        </p:txBody>
      </p:sp>
      <p:sp>
        <p:nvSpPr>
          <p:cNvPr id="4" name="Text 2"/>
          <p:cNvSpPr/>
          <p:nvPr/>
        </p:nvSpPr>
        <p:spPr>
          <a:xfrm>
            <a:off x="598066" y="522684"/>
            <a:ext cx="6097339" cy="314920"/>
          </a:xfrm>
          <a:prstGeom prst="rect">
            <a:avLst/>
          </a:prstGeom>
          <a:noFill/>
          <a:ln/>
        </p:spPr>
        <p:txBody>
          <a:bodyPr wrap="none" lIns="0" tIns="0" rIns="0" bIns="0" rtlCol="0" anchor="t"/>
          <a:lstStyle/>
          <a:p>
            <a:pPr algn="l" indent="0" marL="0">
              <a:lnSpc>
                <a:spcPct val="104000"/>
              </a:lnSpc>
              <a:buNone/>
            </a:pPr>
            <a:r>
              <a:rPr lang="en-US" sz="1950" dirty="0">
                <a:solidFill>
                  <a:srgbClr val="F2D4BA"/>
                </a:solidFill>
                <a:latin typeface="Prata" pitchFamily="34" charset="0"/>
                <a:ea typeface="Prata" pitchFamily="34" charset="-122"/>
                <a:cs typeface="Prata" pitchFamily="34" charset="-120"/>
              </a:rPr>
              <a:t>Module Deployment Order and Dependencies</a:t>
            </a:r>
            <a:endParaRPr lang="en-US" sz="1950" dirty="0"/>
          </a:p>
        </p:txBody>
      </p:sp>
      <p:sp>
        <p:nvSpPr>
          <p:cNvPr id="5" name="Text 3"/>
          <p:cNvSpPr/>
          <p:nvPr/>
        </p:nvSpPr>
        <p:spPr>
          <a:xfrm>
            <a:off x="598066" y="960388"/>
            <a:ext cx="7947794"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Modules must deploy in a specific order because each depends on outputs from previous modules. Terraform resolves this automatically through explicit dependency declarations.</a:t>
            </a:r>
            <a:endParaRPr lang="en-US" sz="750" dirty="0"/>
          </a:p>
        </p:txBody>
      </p:sp>
      <p:sp>
        <p:nvSpPr>
          <p:cNvPr id="6" name="Text 4"/>
          <p:cNvSpPr/>
          <p:nvPr/>
        </p:nvSpPr>
        <p:spPr>
          <a:xfrm>
            <a:off x="598066" y="1344662"/>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01</a:t>
            </a:r>
            <a:endParaRPr lang="en-US" sz="750" dirty="0"/>
          </a:p>
        </p:txBody>
      </p:sp>
      <p:sp>
        <p:nvSpPr>
          <p:cNvPr id="7" name="Shape 5"/>
          <p:cNvSpPr/>
          <p:nvPr/>
        </p:nvSpPr>
        <p:spPr>
          <a:xfrm>
            <a:off x="598066" y="1501601"/>
            <a:ext cx="3932932" cy="14288"/>
          </a:xfrm>
          <a:prstGeom prst="rect">
            <a:avLst/>
          </a:prstGeom>
          <a:solidFill>
            <a:srgbClr val="84482D"/>
          </a:solidFill>
          <a:ln/>
        </p:spPr>
      </p:sp>
      <p:sp>
        <p:nvSpPr>
          <p:cNvPr id="8" name="Text 6"/>
          <p:cNvSpPr/>
          <p:nvPr/>
        </p:nvSpPr>
        <p:spPr>
          <a:xfrm>
            <a:off x="598066" y="1580555"/>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Resource Group</a:t>
            </a:r>
            <a:endParaRPr lang="en-US" sz="950" dirty="0"/>
          </a:p>
        </p:txBody>
      </p:sp>
      <p:sp>
        <p:nvSpPr>
          <p:cNvPr id="9" name="Text 7"/>
          <p:cNvSpPr/>
          <p:nvPr/>
        </p:nvSpPr>
        <p:spPr>
          <a:xfrm>
            <a:off x="598066" y="1787128"/>
            <a:ext cx="3932932" cy="146075"/>
          </a:xfrm>
          <a:prstGeom prst="rect">
            <a:avLst/>
          </a:prstGeom>
          <a:noFill/>
          <a:ln/>
        </p:spPr>
        <p:txBody>
          <a:bodyPr wrap="none" lIns="0" tIns="0" rIns="0" bIns="0" rtlCol="0" anchor="t"/>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first — every Azure resource needs a resource group to exist inside.</a:t>
            </a:r>
            <a:endParaRPr lang="en-US" sz="750" dirty="0"/>
          </a:p>
        </p:txBody>
      </p:sp>
      <p:sp>
        <p:nvSpPr>
          <p:cNvPr id="10" name="Text 8"/>
          <p:cNvSpPr/>
          <p:nvPr/>
        </p:nvSpPr>
        <p:spPr>
          <a:xfrm>
            <a:off x="4612853" y="1344662"/>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02</a:t>
            </a:r>
            <a:endParaRPr lang="en-US" sz="750" dirty="0"/>
          </a:p>
        </p:txBody>
      </p:sp>
      <p:sp>
        <p:nvSpPr>
          <p:cNvPr id="11" name="Shape 9"/>
          <p:cNvSpPr/>
          <p:nvPr/>
        </p:nvSpPr>
        <p:spPr>
          <a:xfrm>
            <a:off x="4612853" y="1501601"/>
            <a:ext cx="3933006" cy="14288"/>
          </a:xfrm>
          <a:prstGeom prst="rect">
            <a:avLst/>
          </a:prstGeom>
          <a:solidFill>
            <a:srgbClr val="84482D"/>
          </a:solidFill>
          <a:ln/>
        </p:spPr>
      </p:sp>
      <p:sp>
        <p:nvSpPr>
          <p:cNvPr id="12" name="Text 10"/>
          <p:cNvSpPr/>
          <p:nvPr/>
        </p:nvSpPr>
        <p:spPr>
          <a:xfrm>
            <a:off x="4612853" y="1580555"/>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Networking</a:t>
            </a:r>
            <a:endParaRPr lang="en-US" sz="950" dirty="0"/>
          </a:p>
        </p:txBody>
      </p:sp>
      <p:sp>
        <p:nvSpPr>
          <p:cNvPr id="13" name="Text 11"/>
          <p:cNvSpPr/>
          <p:nvPr/>
        </p:nvSpPr>
        <p:spPr>
          <a:xfrm>
            <a:off x="4612853" y="1787128"/>
            <a:ext cx="3933006"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second — AKS, Application Gateway, Cosmos DB, and Key Vault all need subnet IDs created here.</a:t>
            </a:r>
            <a:endParaRPr lang="en-US" sz="750" dirty="0"/>
          </a:p>
        </p:txBody>
      </p:sp>
      <p:sp>
        <p:nvSpPr>
          <p:cNvPr id="14" name="Text 12"/>
          <p:cNvSpPr/>
          <p:nvPr/>
        </p:nvSpPr>
        <p:spPr>
          <a:xfrm>
            <a:off x="598066" y="2236663"/>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03</a:t>
            </a:r>
            <a:endParaRPr lang="en-US" sz="750" dirty="0"/>
          </a:p>
        </p:txBody>
      </p:sp>
      <p:sp>
        <p:nvSpPr>
          <p:cNvPr id="15" name="Shape 13"/>
          <p:cNvSpPr/>
          <p:nvPr/>
        </p:nvSpPr>
        <p:spPr>
          <a:xfrm>
            <a:off x="598066" y="2393603"/>
            <a:ext cx="3932932" cy="14288"/>
          </a:xfrm>
          <a:prstGeom prst="rect">
            <a:avLst/>
          </a:prstGeom>
          <a:solidFill>
            <a:srgbClr val="84482D"/>
          </a:solidFill>
          <a:ln/>
        </p:spPr>
      </p:sp>
      <p:sp>
        <p:nvSpPr>
          <p:cNvPr id="16" name="Text 14"/>
          <p:cNvSpPr/>
          <p:nvPr/>
        </p:nvSpPr>
        <p:spPr>
          <a:xfrm>
            <a:off x="598066" y="2472556"/>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ACR</a:t>
            </a:r>
            <a:endParaRPr lang="en-US" sz="950" dirty="0"/>
          </a:p>
        </p:txBody>
      </p:sp>
      <p:sp>
        <p:nvSpPr>
          <p:cNvPr id="17" name="Text 15"/>
          <p:cNvSpPr/>
          <p:nvPr/>
        </p:nvSpPr>
        <p:spPr>
          <a:xfrm>
            <a:off x="598066" y="2679129"/>
            <a:ext cx="3932932" cy="146075"/>
          </a:xfrm>
          <a:prstGeom prst="rect">
            <a:avLst/>
          </a:prstGeom>
          <a:noFill/>
          <a:ln/>
        </p:spPr>
        <p:txBody>
          <a:bodyPr wrap="none" lIns="0" tIns="0" rIns="0" bIns="0" rtlCol="0" anchor="t"/>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third — AKS needs the ACR resource ID for image pull role assignment.</a:t>
            </a:r>
            <a:endParaRPr lang="en-US" sz="750" dirty="0"/>
          </a:p>
        </p:txBody>
      </p:sp>
      <p:sp>
        <p:nvSpPr>
          <p:cNvPr id="18" name="Text 16"/>
          <p:cNvSpPr/>
          <p:nvPr/>
        </p:nvSpPr>
        <p:spPr>
          <a:xfrm>
            <a:off x="4612853" y="2236663"/>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04</a:t>
            </a:r>
            <a:endParaRPr lang="en-US" sz="750" dirty="0"/>
          </a:p>
        </p:txBody>
      </p:sp>
      <p:sp>
        <p:nvSpPr>
          <p:cNvPr id="19" name="Shape 17"/>
          <p:cNvSpPr/>
          <p:nvPr/>
        </p:nvSpPr>
        <p:spPr>
          <a:xfrm>
            <a:off x="4612853" y="2393603"/>
            <a:ext cx="3933006" cy="14288"/>
          </a:xfrm>
          <a:prstGeom prst="rect">
            <a:avLst/>
          </a:prstGeom>
          <a:solidFill>
            <a:srgbClr val="84482D"/>
          </a:solidFill>
          <a:ln/>
        </p:spPr>
      </p:sp>
      <p:sp>
        <p:nvSpPr>
          <p:cNvPr id="20" name="Text 18"/>
          <p:cNvSpPr/>
          <p:nvPr/>
        </p:nvSpPr>
        <p:spPr>
          <a:xfrm>
            <a:off x="4612853" y="2472556"/>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Entra ID</a:t>
            </a:r>
            <a:endParaRPr lang="en-US" sz="950" dirty="0"/>
          </a:p>
        </p:txBody>
      </p:sp>
      <p:sp>
        <p:nvSpPr>
          <p:cNvPr id="21" name="Text 19"/>
          <p:cNvSpPr/>
          <p:nvPr/>
        </p:nvSpPr>
        <p:spPr>
          <a:xfrm>
            <a:off x="4612853" y="2679129"/>
            <a:ext cx="3933006"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fourth — Key Vault needs the client ID and secret from Entra ID to store as secrets.</a:t>
            </a:r>
            <a:endParaRPr lang="en-US" sz="750" dirty="0"/>
          </a:p>
        </p:txBody>
      </p:sp>
      <p:sp>
        <p:nvSpPr>
          <p:cNvPr id="22" name="Text 20"/>
          <p:cNvSpPr/>
          <p:nvPr/>
        </p:nvSpPr>
        <p:spPr>
          <a:xfrm>
            <a:off x="598066" y="3128665"/>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05</a:t>
            </a:r>
            <a:endParaRPr lang="en-US" sz="750" dirty="0"/>
          </a:p>
        </p:txBody>
      </p:sp>
      <p:sp>
        <p:nvSpPr>
          <p:cNvPr id="23" name="Shape 21"/>
          <p:cNvSpPr/>
          <p:nvPr/>
        </p:nvSpPr>
        <p:spPr>
          <a:xfrm>
            <a:off x="598066" y="3285604"/>
            <a:ext cx="3932932" cy="14288"/>
          </a:xfrm>
          <a:prstGeom prst="rect">
            <a:avLst/>
          </a:prstGeom>
          <a:solidFill>
            <a:srgbClr val="84482D"/>
          </a:solidFill>
          <a:ln/>
        </p:spPr>
      </p:sp>
      <p:sp>
        <p:nvSpPr>
          <p:cNvPr id="24" name="Text 22"/>
          <p:cNvSpPr/>
          <p:nvPr/>
        </p:nvSpPr>
        <p:spPr>
          <a:xfrm>
            <a:off x="598066" y="3364557"/>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Key Vault</a:t>
            </a:r>
            <a:endParaRPr lang="en-US" sz="950" dirty="0"/>
          </a:p>
        </p:txBody>
      </p:sp>
      <p:sp>
        <p:nvSpPr>
          <p:cNvPr id="25" name="Text 23"/>
          <p:cNvSpPr/>
          <p:nvPr/>
        </p:nvSpPr>
        <p:spPr>
          <a:xfrm>
            <a:off x="598066" y="3571131"/>
            <a:ext cx="3932932"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fifth — AKS, Cosmos DB, Service Bus, Blob Storage, and AI Foundry all need the Key Vault ID.</a:t>
            </a:r>
            <a:endParaRPr lang="en-US" sz="750" dirty="0"/>
          </a:p>
        </p:txBody>
      </p:sp>
      <p:sp>
        <p:nvSpPr>
          <p:cNvPr id="26" name="Text 24"/>
          <p:cNvSpPr/>
          <p:nvPr/>
        </p:nvSpPr>
        <p:spPr>
          <a:xfrm>
            <a:off x="4612853" y="3128665"/>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06</a:t>
            </a:r>
            <a:endParaRPr lang="en-US" sz="750" dirty="0"/>
          </a:p>
        </p:txBody>
      </p:sp>
      <p:sp>
        <p:nvSpPr>
          <p:cNvPr id="27" name="Shape 25"/>
          <p:cNvSpPr/>
          <p:nvPr/>
        </p:nvSpPr>
        <p:spPr>
          <a:xfrm>
            <a:off x="4612853" y="3285604"/>
            <a:ext cx="3933006" cy="14288"/>
          </a:xfrm>
          <a:prstGeom prst="rect">
            <a:avLst/>
          </a:prstGeom>
          <a:solidFill>
            <a:srgbClr val="84482D"/>
          </a:solidFill>
          <a:ln/>
        </p:spPr>
      </p:sp>
      <p:sp>
        <p:nvSpPr>
          <p:cNvPr id="28" name="Text 26"/>
          <p:cNvSpPr/>
          <p:nvPr/>
        </p:nvSpPr>
        <p:spPr>
          <a:xfrm>
            <a:off x="4612853" y="3364557"/>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Monitoring</a:t>
            </a:r>
            <a:endParaRPr lang="en-US" sz="950" dirty="0"/>
          </a:p>
        </p:txBody>
      </p:sp>
      <p:sp>
        <p:nvSpPr>
          <p:cNvPr id="29" name="Text 27"/>
          <p:cNvSpPr/>
          <p:nvPr/>
        </p:nvSpPr>
        <p:spPr>
          <a:xfrm>
            <a:off x="4612853" y="3571131"/>
            <a:ext cx="3933006"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sixth — critically </a:t>
            </a:r>
            <a:pPr algn="l" indent="0" marL="0">
              <a:lnSpc>
                <a:spcPct val="121000"/>
              </a:lnSpc>
              <a:buNone/>
            </a:pPr>
            <a:r>
              <a:rPr lang="en-US" sz="750" b="1" dirty="0">
                <a:solidFill>
                  <a:srgbClr val="BDA189"/>
                </a:solidFill>
                <a:latin typeface="Manrope" pitchFamily="34" charset="0"/>
                <a:ea typeface="Manrope" pitchFamily="34" charset="-122"/>
                <a:cs typeface="Manrope" pitchFamily="34" charset="-120"/>
              </a:rPr>
              <a:t>before AKS</a:t>
            </a:r>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 which requires the Log Analytics Workspace ID at cluster creation.</a:t>
            </a:r>
            <a:endParaRPr lang="en-US" sz="750" dirty="0"/>
          </a:p>
        </p:txBody>
      </p:sp>
      <p:sp>
        <p:nvSpPr>
          <p:cNvPr id="30" name="Text 28"/>
          <p:cNvSpPr/>
          <p:nvPr/>
        </p:nvSpPr>
        <p:spPr>
          <a:xfrm>
            <a:off x="598066" y="4020666"/>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07</a:t>
            </a:r>
            <a:endParaRPr lang="en-US" sz="750" dirty="0"/>
          </a:p>
        </p:txBody>
      </p:sp>
      <p:sp>
        <p:nvSpPr>
          <p:cNvPr id="31" name="Shape 29"/>
          <p:cNvSpPr/>
          <p:nvPr/>
        </p:nvSpPr>
        <p:spPr>
          <a:xfrm>
            <a:off x="598066" y="4177605"/>
            <a:ext cx="3932932" cy="14288"/>
          </a:xfrm>
          <a:prstGeom prst="rect">
            <a:avLst/>
          </a:prstGeom>
          <a:solidFill>
            <a:srgbClr val="84482D"/>
          </a:solidFill>
          <a:ln/>
        </p:spPr>
      </p:sp>
      <p:sp>
        <p:nvSpPr>
          <p:cNvPr id="32" name="Text 30"/>
          <p:cNvSpPr/>
          <p:nvPr/>
        </p:nvSpPr>
        <p:spPr>
          <a:xfrm>
            <a:off x="598066" y="4256559"/>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AKS</a:t>
            </a:r>
            <a:endParaRPr lang="en-US" sz="950" dirty="0"/>
          </a:p>
        </p:txBody>
      </p:sp>
      <p:sp>
        <p:nvSpPr>
          <p:cNvPr id="33" name="Text 31"/>
          <p:cNvSpPr/>
          <p:nvPr/>
        </p:nvSpPr>
        <p:spPr>
          <a:xfrm>
            <a:off x="598066" y="4463132"/>
            <a:ext cx="3932932" cy="146075"/>
          </a:xfrm>
          <a:prstGeom prst="rect">
            <a:avLst/>
          </a:prstGeom>
          <a:noFill/>
          <a:ln/>
        </p:spPr>
        <p:txBody>
          <a:bodyPr wrap="none" lIns="0" tIns="0" rIns="0" bIns="0" rtlCol="0" anchor="t"/>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Deploys seventh once all prerequisites are ready.</a:t>
            </a:r>
            <a:endParaRPr lang="en-US" sz="750" dirty="0"/>
          </a:p>
        </p:txBody>
      </p:sp>
      <p:sp>
        <p:nvSpPr>
          <p:cNvPr id="34" name="Text 32"/>
          <p:cNvSpPr/>
          <p:nvPr/>
        </p:nvSpPr>
        <p:spPr>
          <a:xfrm>
            <a:off x="4612853" y="4020666"/>
            <a:ext cx="201513" cy="125983"/>
          </a:xfrm>
          <a:prstGeom prst="rect">
            <a:avLst/>
          </a:prstGeom>
          <a:noFill/>
          <a:ln/>
        </p:spPr>
        <p:txBody>
          <a:bodyPr wrap="none" lIns="0" tIns="0" rIns="0" bIns="0" rtlCol="0" anchor="ctr"/>
          <a:lstStyle/>
          <a:p>
            <a:pPr algn="l" indent="0" marL="0">
              <a:lnSpc>
                <a:spcPct val="100000"/>
              </a:lnSpc>
              <a:buNone/>
            </a:pPr>
            <a:r>
              <a:rPr lang="en-US" sz="750" dirty="0">
                <a:solidFill>
                  <a:srgbClr val="BDA189"/>
                </a:solidFill>
                <a:latin typeface="Prata Light" pitchFamily="34" charset="0"/>
                <a:ea typeface="Prata Light" pitchFamily="34" charset="-122"/>
                <a:cs typeface="Prata Light" pitchFamily="34" charset="-120"/>
              </a:rPr>
              <a:t>08</a:t>
            </a:r>
            <a:endParaRPr lang="en-US" sz="750" dirty="0"/>
          </a:p>
        </p:txBody>
      </p:sp>
      <p:sp>
        <p:nvSpPr>
          <p:cNvPr id="35" name="Shape 33"/>
          <p:cNvSpPr/>
          <p:nvPr/>
        </p:nvSpPr>
        <p:spPr>
          <a:xfrm>
            <a:off x="4612853" y="4177605"/>
            <a:ext cx="3933006" cy="14288"/>
          </a:xfrm>
          <a:prstGeom prst="rect">
            <a:avLst/>
          </a:prstGeom>
          <a:solidFill>
            <a:srgbClr val="84482D"/>
          </a:solidFill>
          <a:ln/>
        </p:spPr>
      </p:sp>
      <p:sp>
        <p:nvSpPr>
          <p:cNvPr id="36" name="Text 34"/>
          <p:cNvSpPr/>
          <p:nvPr/>
        </p:nvSpPr>
        <p:spPr>
          <a:xfrm>
            <a:off x="4612853" y="4256559"/>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BDA189"/>
                </a:solidFill>
                <a:latin typeface="Prata" pitchFamily="34" charset="0"/>
                <a:ea typeface="Prata" pitchFamily="34" charset="-122"/>
                <a:cs typeface="Prata" pitchFamily="34" charset="-120"/>
              </a:rPr>
              <a:t>Final Phase</a:t>
            </a:r>
            <a:endParaRPr lang="en-US" sz="950" dirty="0"/>
          </a:p>
        </p:txBody>
      </p:sp>
      <p:sp>
        <p:nvSpPr>
          <p:cNvPr id="37" name="Text 35"/>
          <p:cNvSpPr/>
          <p:nvPr/>
        </p:nvSpPr>
        <p:spPr>
          <a:xfrm>
            <a:off x="4612853" y="4463132"/>
            <a:ext cx="3933006"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BDA189"/>
                </a:solidFill>
                <a:latin typeface="Manrope" pitchFamily="34" charset="0"/>
                <a:ea typeface="Manrope" pitchFamily="34" charset="-122"/>
                <a:cs typeface="Manrope" pitchFamily="34" charset="-120"/>
              </a:rPr>
              <a:t>Cosmos DB, Blob Storage, App Gateway, Front Door, Service Bus, and AI Foundry deploy last. Front Door needs App Gateway's FQDN as origin.</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46025"/>
            <a:ext cx="1032867" cy="233214"/>
          </a:xfrm>
          <a:prstGeom prst="roundRect">
            <a:avLst>
              <a:gd name="adj" fmla="val 6383"/>
            </a:avLst>
          </a:prstGeom>
          <a:solidFill>
            <a:srgbClr val="391F13"/>
          </a:solidFill>
          <a:ln/>
        </p:spPr>
      </p:sp>
      <p:sp>
        <p:nvSpPr>
          <p:cNvPr id="3" name="Text 1"/>
          <p:cNvSpPr/>
          <p:nvPr/>
        </p:nvSpPr>
        <p:spPr>
          <a:xfrm>
            <a:off x="570533" y="383232"/>
            <a:ext cx="1341239" cy="158800"/>
          </a:xfrm>
          <a:prstGeom prst="rect">
            <a:avLst/>
          </a:prstGeom>
          <a:noFill/>
          <a:ln/>
        </p:spPr>
        <p:txBody>
          <a:bodyPr wrap="none" lIns="0" tIns="0" rIns="0" bIns="0" rtlCol="0" anchor="t"/>
          <a:lstStyle/>
          <a:p>
            <a:pPr algn="l" indent="0" marL="0">
              <a:lnSpc>
                <a:spcPct val="133000"/>
              </a:lnSpc>
              <a:buNone/>
            </a:pPr>
            <a:r>
              <a:rPr lang="en-US" sz="750" dirty="0">
                <a:solidFill>
                  <a:srgbClr val="BDA189"/>
                </a:solidFill>
                <a:latin typeface="Manrope" pitchFamily="34" charset="0"/>
                <a:ea typeface="Manrope" pitchFamily="34" charset="-122"/>
                <a:cs typeface="Manrope" pitchFamily="34" charset="-120"/>
              </a:rPr>
              <a:t>MODULE DEEP DIVE</a:t>
            </a:r>
            <a:endParaRPr lang="en-US" sz="750" dirty="0"/>
          </a:p>
        </p:txBody>
      </p:sp>
      <p:sp>
        <p:nvSpPr>
          <p:cNvPr id="4" name="Text 2"/>
          <p:cNvSpPr/>
          <p:nvPr/>
        </p:nvSpPr>
        <p:spPr>
          <a:xfrm>
            <a:off x="496119" y="628799"/>
            <a:ext cx="4037484" cy="387548"/>
          </a:xfrm>
          <a:prstGeom prst="rect">
            <a:avLst/>
          </a:prstGeom>
          <a:noFill/>
          <a:ln/>
        </p:spPr>
        <p:txBody>
          <a:bodyPr wrap="none" lIns="0" tIns="0" rIns="0" bIns="0" rtlCol="0" anchor="t"/>
          <a:lstStyle/>
          <a:p>
            <a:pPr algn="l" indent="0" marL="0">
              <a:lnSpc>
                <a:spcPct val="104000"/>
              </a:lnSpc>
              <a:buNone/>
            </a:pPr>
            <a:r>
              <a:rPr lang="en-US" sz="2400" dirty="0">
                <a:solidFill>
                  <a:srgbClr val="F2D4BA"/>
                </a:solidFill>
                <a:latin typeface="Prata" pitchFamily="34" charset="0"/>
                <a:ea typeface="Prata" pitchFamily="34" charset="-122"/>
                <a:cs typeface="Prata" pitchFamily="34" charset="-120"/>
              </a:rPr>
              <a:t>Key Modules Deep Dive</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1202382"/>
            <a:ext cx="4028182" cy="1934021"/>
          </a:xfrm>
          <a:prstGeom prst="rect">
            <a:avLst/>
          </a:prstGeom>
        </p:spPr>
      </p:pic>
      <p:sp>
        <p:nvSpPr>
          <p:cNvPr id="6" name="Text 3"/>
          <p:cNvSpPr/>
          <p:nvPr/>
        </p:nvSpPr>
        <p:spPr>
          <a:xfrm>
            <a:off x="677242" y="134064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BDA189"/>
                </a:solidFill>
                <a:latin typeface="Prata" pitchFamily="34" charset="0"/>
                <a:ea typeface="Prata" pitchFamily="34" charset="-122"/>
                <a:cs typeface="Prata" pitchFamily="34" charset="-120"/>
              </a:rPr>
              <a:t>Key Vault</a:t>
            </a:r>
            <a:endParaRPr lang="en-US" sz="1200" dirty="0"/>
          </a:p>
        </p:txBody>
      </p:sp>
      <p:sp>
        <p:nvSpPr>
          <p:cNvPr id="7" name="Text 4"/>
          <p:cNvSpPr/>
          <p:nvPr/>
        </p:nvSpPr>
        <p:spPr>
          <a:xfrm>
            <a:off x="677242" y="1608906"/>
            <a:ext cx="3694509"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All platform secrets stored here — Cosmos DB connection string, Service Bus connection string, OpenAI API key, Entra ID credentials, JWT secret, and storage connection string. Uses </a:t>
            </a:r>
            <a:pPr algn="l" indent="0" marL="0">
              <a:lnSpc>
                <a:spcPct val="133000"/>
              </a:lnSpc>
              <a:buNone/>
            </a:pPr>
            <a:r>
              <a:rPr lang="en-US" sz="950" b="1" dirty="0">
                <a:solidFill>
                  <a:srgbClr val="BDA189"/>
                </a:solidFill>
                <a:latin typeface="Manrope" pitchFamily="34" charset="0"/>
                <a:ea typeface="Manrope" pitchFamily="34" charset="-122"/>
                <a:cs typeface="Manrope" pitchFamily="34" charset="-120"/>
              </a:rPr>
              <a:t>RBAC authorization</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with a private endpoint (no public internet access). AKS reads secrets via kubelet managed identity with Key Vault Secrets User role. Secrets rotate every </a:t>
            </a:r>
            <a:pPr algn="l" indent="0" marL="0">
              <a:lnSpc>
                <a:spcPct val="133000"/>
              </a:lnSpc>
              <a:buNone/>
            </a:pPr>
            <a:r>
              <a:rPr lang="en-US" sz="950" b="1" dirty="0">
                <a:solidFill>
                  <a:srgbClr val="BDA189"/>
                </a:solidFill>
                <a:latin typeface="Manrope" pitchFamily="34" charset="0"/>
                <a:ea typeface="Manrope" pitchFamily="34" charset="-122"/>
                <a:cs typeface="Manrope" pitchFamily="34" charset="-120"/>
              </a:rPr>
              <a:t>2 minutes</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inside pods without restart.</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99" y="1202382"/>
            <a:ext cx="4028182" cy="1934021"/>
          </a:xfrm>
          <a:prstGeom prst="rect">
            <a:avLst/>
          </a:prstGeom>
        </p:spPr>
      </p:pic>
      <p:sp>
        <p:nvSpPr>
          <p:cNvPr id="9" name="Text 5"/>
          <p:cNvSpPr/>
          <p:nvPr/>
        </p:nvSpPr>
        <p:spPr>
          <a:xfrm>
            <a:off x="4815111" y="134064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BDA189"/>
                </a:solidFill>
                <a:latin typeface="Prata" pitchFamily="34" charset="0"/>
                <a:ea typeface="Prata" pitchFamily="34" charset="-122"/>
                <a:cs typeface="Prata" pitchFamily="34" charset="-120"/>
              </a:rPr>
              <a:t>Networking</a:t>
            </a:r>
            <a:endParaRPr lang="en-US" sz="1200" dirty="0"/>
          </a:p>
        </p:txBody>
      </p:sp>
      <p:sp>
        <p:nvSpPr>
          <p:cNvPr id="10" name="Text 6"/>
          <p:cNvSpPr/>
          <p:nvPr/>
        </p:nvSpPr>
        <p:spPr>
          <a:xfrm>
            <a:off x="4815111" y="1608906"/>
            <a:ext cx="3694509"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Single VNet (</a:t>
            </a:r>
            <a:pPr algn="l" indent="0" marL="0">
              <a:lnSpc>
                <a:spcPct val="133000"/>
              </a:lnSpc>
              <a:buNone/>
            </a:pPr>
            <a:r>
              <a:rPr lang="en-US" sz="950" dirty="0">
                <a:solidFill>
                  <a:srgbClr val="BDA189"/>
                </a:solidFill>
                <a:highlight>
                  <a:srgbClr val="2E3033"/>
                </a:highlight>
                <a:latin typeface="Consolas" pitchFamily="34" charset="0"/>
                <a:ea typeface="Consolas" pitchFamily="34" charset="-122"/>
                <a:cs typeface="Consolas" pitchFamily="34" charset="-120"/>
              </a:rPr>
              <a:t>10.0.0.0/8</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with four subnets: AKS (</a:t>
            </a:r>
            <a:pPr algn="l" indent="0" marL="0">
              <a:lnSpc>
                <a:spcPct val="133000"/>
              </a:lnSpc>
              <a:buNone/>
            </a:pPr>
            <a:r>
              <a:rPr lang="en-US" sz="950" dirty="0">
                <a:solidFill>
                  <a:srgbClr val="BDA189"/>
                </a:solidFill>
                <a:highlight>
                  <a:srgbClr val="2E3033"/>
                </a:highlight>
                <a:latin typeface="Consolas" pitchFamily="34" charset="0"/>
                <a:ea typeface="Consolas" pitchFamily="34" charset="-122"/>
                <a:cs typeface="Consolas" pitchFamily="34" charset="-120"/>
              </a:rPr>
              <a:t>10.240.0.0/16</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large for Azure CNI pod IPs), App Gateway (</a:t>
            </a:r>
            <a:pPr algn="l" indent="0" marL="0">
              <a:lnSpc>
                <a:spcPct val="133000"/>
              </a:lnSpc>
              <a:buNone/>
            </a:pPr>
            <a:r>
              <a:rPr lang="en-US" sz="950" dirty="0">
                <a:solidFill>
                  <a:srgbClr val="BDA189"/>
                </a:solidFill>
                <a:highlight>
                  <a:srgbClr val="2E3033"/>
                </a:highlight>
                <a:latin typeface="Consolas" pitchFamily="34" charset="0"/>
                <a:ea typeface="Consolas" pitchFamily="34" charset="-122"/>
                <a:cs typeface="Consolas" pitchFamily="34" charset="-120"/>
              </a:rPr>
              <a:t>10.2.0.0/24</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dedicated by Azure rules), Database (</a:t>
            </a:r>
            <a:pPr algn="l" indent="0" marL="0">
              <a:lnSpc>
                <a:spcPct val="133000"/>
              </a:lnSpc>
              <a:buNone/>
            </a:pPr>
            <a:r>
              <a:rPr lang="en-US" sz="950" dirty="0">
                <a:solidFill>
                  <a:srgbClr val="BDA189"/>
                </a:solidFill>
                <a:highlight>
                  <a:srgbClr val="2E3033"/>
                </a:highlight>
                <a:latin typeface="Consolas" pitchFamily="34" charset="0"/>
                <a:ea typeface="Consolas" pitchFamily="34" charset="-122"/>
                <a:cs typeface="Consolas" pitchFamily="34" charset="-120"/>
              </a:rPr>
              <a:t>10.3.0.0/24</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isolates DB traffic), Private Endpoints (</a:t>
            </a:r>
            <a:pPr algn="l" indent="0" marL="0">
              <a:lnSpc>
                <a:spcPct val="133000"/>
              </a:lnSpc>
              <a:buNone/>
            </a:pPr>
            <a:r>
              <a:rPr lang="en-US" sz="950" dirty="0">
                <a:solidFill>
                  <a:srgbClr val="BDA189"/>
                </a:solidFill>
                <a:highlight>
                  <a:srgbClr val="2E3033"/>
                </a:highlight>
                <a:latin typeface="Consolas" pitchFamily="34" charset="0"/>
                <a:ea typeface="Consolas" pitchFamily="34" charset="-122"/>
                <a:cs typeface="Consolas" pitchFamily="34" charset="-120"/>
              </a:rPr>
              <a:t>10.4.0.0/24</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where Key Vault, Cosmos DB, OpenAI, and Storage land). Each subnet has a Network Security Group.</a:t>
            </a:r>
            <a:endParaRPr lang="en-US"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831" y="3260378"/>
            <a:ext cx="4028182" cy="1537097"/>
          </a:xfrm>
          <a:prstGeom prst="rect">
            <a:avLst/>
          </a:prstGeom>
        </p:spPr>
      </p:pic>
      <p:sp>
        <p:nvSpPr>
          <p:cNvPr id="12" name="Text 7"/>
          <p:cNvSpPr/>
          <p:nvPr/>
        </p:nvSpPr>
        <p:spPr>
          <a:xfrm>
            <a:off x="677242" y="33986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BDA189"/>
                </a:solidFill>
                <a:latin typeface="Prata" pitchFamily="34" charset="0"/>
                <a:ea typeface="Prata" pitchFamily="34" charset="-122"/>
                <a:cs typeface="Prata" pitchFamily="34" charset="-120"/>
              </a:rPr>
              <a:t>ACR</a:t>
            </a:r>
            <a:endParaRPr lang="en-US" sz="1200" dirty="0"/>
          </a:p>
        </p:txBody>
      </p:sp>
      <p:sp>
        <p:nvSpPr>
          <p:cNvPr id="13" name="Text 8"/>
          <p:cNvSpPr/>
          <p:nvPr/>
        </p:nvSpPr>
        <p:spPr>
          <a:xfrm>
            <a:off x="677242" y="3666902"/>
            <a:ext cx="3694509"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Azure Container Registry replaces Docker Hub — private, inside Azure network, no rate limits. AKS connects via managed identity: zero username/password stored. The kubelet identity receives the </a:t>
            </a:r>
            <a:pPr algn="l" indent="0" marL="0">
              <a:lnSpc>
                <a:spcPct val="133000"/>
              </a:lnSpc>
              <a:buNone/>
            </a:pPr>
            <a:r>
              <a:rPr lang="en-US" sz="950" b="1" dirty="0">
                <a:solidFill>
                  <a:srgbClr val="BDA189"/>
                </a:solidFill>
                <a:latin typeface="Manrope" pitchFamily="34" charset="0"/>
                <a:ea typeface="Manrope" pitchFamily="34" charset="-122"/>
                <a:cs typeface="Manrope" pitchFamily="34" charset="-120"/>
              </a:rPr>
              <a:t>AcrPull role</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through a Terraform role assignment.</a:t>
            </a:r>
            <a:endParaRPr lang="en-US" sz="9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19699" y="3260378"/>
            <a:ext cx="4028182" cy="1537097"/>
          </a:xfrm>
          <a:prstGeom prst="rect">
            <a:avLst/>
          </a:prstGeom>
        </p:spPr>
      </p:pic>
      <p:sp>
        <p:nvSpPr>
          <p:cNvPr id="15" name="Text 9"/>
          <p:cNvSpPr/>
          <p:nvPr/>
        </p:nvSpPr>
        <p:spPr>
          <a:xfrm>
            <a:off x="4815111" y="33986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BDA189"/>
                </a:solidFill>
                <a:latin typeface="Prata" pitchFamily="34" charset="0"/>
                <a:ea typeface="Prata" pitchFamily="34" charset="-122"/>
                <a:cs typeface="Prata" pitchFamily="34" charset="-120"/>
              </a:rPr>
              <a:t>Monitoring</a:t>
            </a:r>
            <a:endParaRPr lang="en-US" sz="1200" dirty="0"/>
          </a:p>
        </p:txBody>
      </p:sp>
      <p:sp>
        <p:nvSpPr>
          <p:cNvPr id="16" name="Text 10"/>
          <p:cNvSpPr/>
          <p:nvPr/>
        </p:nvSpPr>
        <p:spPr>
          <a:xfrm>
            <a:off x="4815111" y="3666902"/>
            <a:ext cx="3694509"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Must deploy </a:t>
            </a:r>
            <a:pPr algn="l" indent="0" marL="0">
              <a:lnSpc>
                <a:spcPct val="133000"/>
              </a:lnSpc>
              <a:buNone/>
            </a:pPr>
            <a:r>
              <a:rPr lang="en-US" sz="950" b="1" dirty="0">
                <a:solidFill>
                  <a:srgbClr val="BDA189"/>
                </a:solidFill>
                <a:latin typeface="Manrope" pitchFamily="34" charset="0"/>
                <a:ea typeface="Manrope" pitchFamily="34" charset="-122"/>
                <a:cs typeface="Manrope" pitchFamily="34" charset="-120"/>
              </a:rPr>
              <a:t>before AKS</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 (cluster needs Log Analytics Workspace ID at creation). Creates Log Analytics Workspace, Container Insights, Application Insights, Action Group for email alerts, and two metric alerts triggering when AKS node CPU or memory crosses </a:t>
            </a:r>
            <a:pPr algn="l" indent="0" marL="0">
              <a:lnSpc>
                <a:spcPct val="133000"/>
              </a:lnSpc>
              <a:buNone/>
            </a:pPr>
            <a:r>
              <a:rPr lang="en-US" sz="950" b="1" dirty="0">
                <a:solidFill>
                  <a:srgbClr val="BDA189"/>
                </a:solidFill>
                <a:latin typeface="Manrope" pitchFamily="34" charset="0"/>
                <a:ea typeface="Manrope" pitchFamily="34" charset="-122"/>
                <a:cs typeface="Manrope" pitchFamily="34" charset="-120"/>
              </a:rPr>
              <a:t>80%</a:t>
            </a:r>
            <a:pPr algn="l" indent="0" marL="0">
              <a:lnSpc>
                <a:spcPct val="133000"/>
              </a:lnSpc>
              <a:buNone/>
            </a:pPr>
            <a:r>
              <a:rPr lang="en-US" sz="950" dirty="0">
                <a:solidFill>
                  <a:srgbClr val="BDA189"/>
                </a:solidFill>
                <a:latin typeface="Manrope" pitchFamily="34" charset="0"/>
                <a:ea typeface="Manrope" pitchFamily="34" charset="-122"/>
                <a:cs typeface="Manrope"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65162" y="367754"/>
            <a:ext cx="863724" cy="213792"/>
          </a:xfrm>
          <a:prstGeom prst="roundRect">
            <a:avLst>
              <a:gd name="adj" fmla="val 6527"/>
            </a:avLst>
          </a:prstGeom>
          <a:solidFill>
            <a:srgbClr val="391F13"/>
          </a:solidFill>
          <a:ln/>
        </p:spPr>
      </p:sp>
      <p:sp>
        <p:nvSpPr>
          <p:cNvPr id="3" name="Text 1"/>
          <p:cNvSpPr/>
          <p:nvPr/>
        </p:nvSpPr>
        <p:spPr>
          <a:xfrm>
            <a:off x="534888" y="402580"/>
            <a:ext cx="1181472" cy="144140"/>
          </a:xfrm>
          <a:prstGeom prst="rect">
            <a:avLst/>
          </a:prstGeom>
          <a:noFill/>
          <a:ln/>
        </p:spPr>
        <p:txBody>
          <a:bodyPr wrap="none" lIns="0" tIns="0" rIns="0" bIns="0" rtlCol="0" anchor="t"/>
          <a:lstStyle/>
          <a:p>
            <a:pPr algn="l" indent="0" marL="0">
              <a:lnSpc>
                <a:spcPct val="129000"/>
              </a:lnSpc>
              <a:buNone/>
            </a:pPr>
            <a:r>
              <a:rPr lang="en-US" sz="700" dirty="0">
                <a:solidFill>
                  <a:srgbClr val="BDA189"/>
                </a:solidFill>
                <a:latin typeface="Manrope" pitchFamily="34" charset="0"/>
                <a:ea typeface="Manrope" pitchFamily="34" charset="-122"/>
                <a:cs typeface="Manrope" pitchFamily="34" charset="-120"/>
              </a:rPr>
              <a:t>COMPUTE LAYER</a:t>
            </a:r>
            <a:endParaRPr lang="en-US" sz="700" dirty="0"/>
          </a:p>
        </p:txBody>
      </p:sp>
      <p:sp>
        <p:nvSpPr>
          <p:cNvPr id="4" name="Text 2"/>
          <p:cNvSpPr/>
          <p:nvPr/>
        </p:nvSpPr>
        <p:spPr>
          <a:xfrm>
            <a:off x="465162" y="625153"/>
            <a:ext cx="3400797" cy="363364"/>
          </a:xfrm>
          <a:prstGeom prst="rect">
            <a:avLst/>
          </a:prstGeom>
          <a:noFill/>
          <a:ln/>
        </p:spPr>
        <p:txBody>
          <a:bodyPr wrap="none" lIns="0" tIns="0" rIns="0" bIns="0" rtlCol="0" anchor="t"/>
          <a:lstStyle/>
          <a:p>
            <a:pPr algn="l" indent="0" marL="0">
              <a:lnSpc>
                <a:spcPct val="104000"/>
              </a:lnSpc>
              <a:buNone/>
            </a:pPr>
            <a:r>
              <a:rPr lang="en-US" sz="2250" dirty="0">
                <a:solidFill>
                  <a:srgbClr val="F2D4BA"/>
                </a:solidFill>
                <a:latin typeface="Prata" pitchFamily="34" charset="0"/>
                <a:ea typeface="Prata" pitchFamily="34" charset="-122"/>
                <a:cs typeface="Prata" pitchFamily="34" charset="-120"/>
              </a:rPr>
              <a:t>AKS Cluster in Detail</a:t>
            </a:r>
            <a:endParaRPr lang="en-US" sz="2250" dirty="0"/>
          </a:p>
        </p:txBody>
      </p:sp>
      <p:sp>
        <p:nvSpPr>
          <p:cNvPr id="5" name="Text 3"/>
          <p:cNvSpPr/>
          <p:nvPr/>
        </p:nvSpPr>
        <p:spPr>
          <a:xfrm>
            <a:off x="465162" y="1152004"/>
            <a:ext cx="8213675"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The </a:t>
            </a:r>
            <a:pPr algn="l" indent="0" marL="0">
              <a:lnSpc>
                <a:spcPct val="129000"/>
              </a:lnSpc>
              <a:buNone/>
            </a:pPr>
            <a:r>
              <a:rPr lang="en-US" sz="900" dirty="0">
                <a:solidFill>
                  <a:srgbClr val="BDA189"/>
                </a:solidFill>
                <a:highlight>
                  <a:srgbClr val="2E3033"/>
                </a:highlight>
                <a:latin typeface="Consolas" pitchFamily="34" charset="0"/>
                <a:ea typeface="Consolas" pitchFamily="34" charset="-122"/>
                <a:cs typeface="Consolas" pitchFamily="34" charset="-120"/>
              </a:rPr>
              <a:t>jd-carenest-aks</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cluster runs in Switzerland North on Kubernetes </a:t>
            </a:r>
            <a:pPr algn="l" indent="0" marL="0">
              <a:lnSpc>
                <a:spcPct val="129000"/>
              </a:lnSpc>
              <a:buNone/>
            </a:pPr>
            <a:r>
              <a:rPr lang="en-US" sz="900" b="1" dirty="0">
                <a:solidFill>
                  <a:srgbClr val="BDA189"/>
                </a:solidFill>
                <a:latin typeface="Manrope" pitchFamily="34" charset="0"/>
                <a:ea typeface="Manrope" pitchFamily="34" charset="-122"/>
                <a:cs typeface="Manrope" pitchFamily="34" charset="-120"/>
              </a:rPr>
              <a:t>1.35.5</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with Standard SKU tier (SLA-backed). Two-tier node pool design ensures system stability and cost-efficient scaling.</a:t>
            </a:r>
            <a:endParaRPr lang="en-US" sz="900" dirty="0"/>
          </a:p>
        </p:txBody>
      </p:sp>
      <p:sp>
        <p:nvSpPr>
          <p:cNvPr id="6" name="Shape 4"/>
          <p:cNvSpPr/>
          <p:nvPr/>
        </p:nvSpPr>
        <p:spPr>
          <a:xfrm>
            <a:off x="465162" y="1635100"/>
            <a:ext cx="4052292" cy="1020217"/>
          </a:xfrm>
          <a:prstGeom prst="roundRect">
            <a:avLst>
              <a:gd name="adj" fmla="val 1710"/>
            </a:avLst>
          </a:prstGeom>
          <a:solidFill>
            <a:srgbClr val="404245"/>
          </a:solidFill>
          <a:ln/>
        </p:spPr>
      </p:sp>
      <p:sp>
        <p:nvSpPr>
          <p:cNvPr id="7" name="Text 5"/>
          <p:cNvSpPr/>
          <p:nvPr/>
        </p:nvSpPr>
        <p:spPr>
          <a:xfrm>
            <a:off x="581397" y="1751335"/>
            <a:ext cx="1453604" cy="181645"/>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Prata" pitchFamily="34" charset="0"/>
                <a:ea typeface="Prata" pitchFamily="34" charset="-122"/>
                <a:cs typeface="Prata" pitchFamily="34" charset="-120"/>
              </a:rPr>
              <a:t>System Node Pool</a:t>
            </a:r>
            <a:endParaRPr lang="en-US" sz="1100" dirty="0"/>
          </a:p>
        </p:txBody>
      </p:sp>
      <p:sp>
        <p:nvSpPr>
          <p:cNvPr id="8" name="Text 6"/>
          <p:cNvSpPr/>
          <p:nvPr/>
        </p:nvSpPr>
        <p:spPr>
          <a:xfrm>
            <a:off x="581397" y="1998390"/>
            <a:ext cx="3819823" cy="54069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Standard_D2s_v3 VMs, fixed 2 nodes. Runs only critical system pods (CoreDNS, kube-proxy, Azure Policy). Isolated from application workloads — never starved by user traffic.</a:t>
            </a:r>
            <a:endParaRPr lang="en-US" sz="900" dirty="0"/>
          </a:p>
        </p:txBody>
      </p:sp>
      <p:sp>
        <p:nvSpPr>
          <p:cNvPr id="9" name="Shape 7"/>
          <p:cNvSpPr/>
          <p:nvPr/>
        </p:nvSpPr>
        <p:spPr>
          <a:xfrm>
            <a:off x="4626471" y="1635100"/>
            <a:ext cx="4052367" cy="1020217"/>
          </a:xfrm>
          <a:prstGeom prst="roundRect">
            <a:avLst>
              <a:gd name="adj" fmla="val 1710"/>
            </a:avLst>
          </a:prstGeom>
          <a:solidFill>
            <a:srgbClr val="404245"/>
          </a:solidFill>
          <a:ln/>
        </p:spPr>
      </p:sp>
      <p:sp>
        <p:nvSpPr>
          <p:cNvPr id="10" name="Text 8"/>
          <p:cNvSpPr/>
          <p:nvPr/>
        </p:nvSpPr>
        <p:spPr>
          <a:xfrm>
            <a:off x="4742706" y="1751335"/>
            <a:ext cx="1570955" cy="181645"/>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Prata" pitchFamily="34" charset="0"/>
                <a:ea typeface="Prata" pitchFamily="34" charset="-122"/>
                <a:cs typeface="Prata" pitchFamily="34" charset="-120"/>
              </a:rPr>
              <a:t>Application Node Pool</a:t>
            </a:r>
            <a:endParaRPr lang="en-US" sz="1100" dirty="0"/>
          </a:p>
        </p:txBody>
      </p:sp>
      <p:sp>
        <p:nvSpPr>
          <p:cNvPr id="11" name="Text 9"/>
          <p:cNvSpPr/>
          <p:nvPr/>
        </p:nvSpPr>
        <p:spPr>
          <a:xfrm>
            <a:off x="4742706" y="1998390"/>
            <a:ext cx="3819897" cy="54069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Standard_D4s_v3 VMs with cluster autoscaler: min 2, max 10 nodes. All CareNest microservices run here. Scales automatically with traffic demand.</a:t>
            </a:r>
            <a:endParaRPr lang="en-US" sz="900" dirty="0"/>
          </a:p>
        </p:txBody>
      </p:sp>
      <p:sp>
        <p:nvSpPr>
          <p:cNvPr id="12" name="Shape 10"/>
          <p:cNvSpPr/>
          <p:nvPr/>
        </p:nvSpPr>
        <p:spPr>
          <a:xfrm>
            <a:off x="465162" y="2764334"/>
            <a:ext cx="4052292" cy="1020217"/>
          </a:xfrm>
          <a:prstGeom prst="roundRect">
            <a:avLst>
              <a:gd name="adj" fmla="val 1710"/>
            </a:avLst>
          </a:prstGeom>
          <a:solidFill>
            <a:srgbClr val="404245"/>
          </a:solidFill>
          <a:ln/>
        </p:spPr>
      </p:sp>
      <p:sp>
        <p:nvSpPr>
          <p:cNvPr id="13" name="Text 11"/>
          <p:cNvSpPr/>
          <p:nvPr/>
        </p:nvSpPr>
        <p:spPr>
          <a:xfrm>
            <a:off x="581397" y="2880568"/>
            <a:ext cx="1835572" cy="181645"/>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Prata" pitchFamily="34" charset="0"/>
                <a:ea typeface="Prata" pitchFamily="34" charset="-122"/>
                <a:cs typeface="Prata" pitchFamily="34" charset="-120"/>
              </a:rPr>
              <a:t>Horizontal Pod Autoscaler</a:t>
            </a:r>
            <a:endParaRPr lang="en-US" sz="1100" dirty="0"/>
          </a:p>
        </p:txBody>
      </p:sp>
      <p:sp>
        <p:nvSpPr>
          <p:cNvPr id="14" name="Text 12"/>
          <p:cNvSpPr/>
          <p:nvPr/>
        </p:nvSpPr>
        <p:spPr>
          <a:xfrm>
            <a:off x="581397" y="3127623"/>
            <a:ext cx="3819823"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Watches pod CPU and memory, scaling pods between min/max when CPU crosses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70%</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Works inside the cluster at the pod level.</a:t>
            </a:r>
            <a:endParaRPr lang="en-US" sz="900" dirty="0"/>
          </a:p>
        </p:txBody>
      </p:sp>
      <p:sp>
        <p:nvSpPr>
          <p:cNvPr id="15" name="Shape 13"/>
          <p:cNvSpPr/>
          <p:nvPr/>
        </p:nvSpPr>
        <p:spPr>
          <a:xfrm>
            <a:off x="4626471" y="2764334"/>
            <a:ext cx="4052367" cy="1020217"/>
          </a:xfrm>
          <a:prstGeom prst="roundRect">
            <a:avLst>
              <a:gd name="adj" fmla="val 1710"/>
            </a:avLst>
          </a:prstGeom>
          <a:solidFill>
            <a:srgbClr val="404245"/>
          </a:solidFill>
          <a:ln/>
        </p:spPr>
      </p:sp>
      <p:sp>
        <p:nvSpPr>
          <p:cNvPr id="16" name="Text 14"/>
          <p:cNvSpPr/>
          <p:nvPr/>
        </p:nvSpPr>
        <p:spPr>
          <a:xfrm>
            <a:off x="4742706" y="2880568"/>
            <a:ext cx="1453604" cy="181645"/>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Prata" pitchFamily="34" charset="0"/>
                <a:ea typeface="Prata" pitchFamily="34" charset="-122"/>
                <a:cs typeface="Prata" pitchFamily="34" charset="-120"/>
              </a:rPr>
              <a:t>Cluster Autoscaler</a:t>
            </a:r>
            <a:endParaRPr lang="en-US" sz="1100" dirty="0"/>
          </a:p>
        </p:txBody>
      </p:sp>
      <p:sp>
        <p:nvSpPr>
          <p:cNvPr id="17" name="Text 15"/>
          <p:cNvSpPr/>
          <p:nvPr/>
        </p:nvSpPr>
        <p:spPr>
          <a:xfrm>
            <a:off x="4742706" y="3127623"/>
            <a:ext cx="3819897" cy="54069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Adds VM nodes when HPA needs more capacity and existing nodes are full. Removes idle nodes when traffic drops — automatic cost optimization.</a:t>
            </a:r>
            <a:endParaRPr lang="en-US" sz="90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0875" y="3907185"/>
            <a:ext cx="8227963" cy="868561"/>
          </a:xfrm>
          <a:prstGeom prst="rect">
            <a:avLst/>
          </a:prstGeom>
        </p:spPr>
      </p:pic>
      <p:sp>
        <p:nvSpPr>
          <p:cNvPr id="19" name="Text 16"/>
          <p:cNvSpPr/>
          <p:nvPr/>
        </p:nvSpPr>
        <p:spPr>
          <a:xfrm>
            <a:off x="638547" y="4037707"/>
            <a:ext cx="1453604" cy="181645"/>
          </a:xfrm>
          <a:prstGeom prst="rect">
            <a:avLst/>
          </a:prstGeom>
          <a:noFill/>
          <a:ln/>
        </p:spPr>
        <p:txBody>
          <a:bodyPr wrap="none" lIns="0" tIns="0" rIns="0" bIns="0" rtlCol="0" anchor="t"/>
          <a:lstStyle/>
          <a:p>
            <a:pPr algn="l" indent="0" marL="0">
              <a:lnSpc>
                <a:spcPct val="104000"/>
              </a:lnSpc>
              <a:buNone/>
            </a:pPr>
            <a:r>
              <a:rPr lang="en-US" sz="1100" dirty="0">
                <a:solidFill>
                  <a:srgbClr val="BDA189"/>
                </a:solidFill>
                <a:latin typeface="Prata" pitchFamily="34" charset="0"/>
                <a:ea typeface="Prata" pitchFamily="34" charset="-122"/>
                <a:cs typeface="Prata" pitchFamily="34" charset="-120"/>
              </a:rPr>
              <a:t>Key Addons</a:t>
            </a:r>
            <a:endParaRPr lang="en-US" sz="1100" dirty="0"/>
          </a:p>
        </p:txBody>
      </p:sp>
      <p:sp>
        <p:nvSpPr>
          <p:cNvPr id="20" name="Text 17"/>
          <p:cNvSpPr/>
          <p:nvPr/>
        </p:nvSpPr>
        <p:spPr>
          <a:xfrm>
            <a:off x="638547" y="4284762"/>
            <a:ext cx="7909768"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OMS Agent (logs to Log Analytics) · Azure Policy (governance) · Key Vault Secrets Provider (auto-rotation every 2 min) · Azure CNI (real VNet IPs per pod) · Calico NetworkPolicy (pod-to-pod isolation) · Entra ID RBAC (kubectl via Azure roles) · Automatic patch upgrades every Sunday 2AM–6AM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65162" y="354434"/>
            <a:ext cx="981521" cy="213792"/>
          </a:xfrm>
          <a:prstGeom prst="roundRect">
            <a:avLst>
              <a:gd name="adj" fmla="val 6527"/>
            </a:avLst>
          </a:prstGeom>
          <a:solidFill>
            <a:srgbClr val="391F13"/>
          </a:solidFill>
          <a:ln/>
        </p:spPr>
      </p:sp>
      <p:sp>
        <p:nvSpPr>
          <p:cNvPr id="3" name="Text 1"/>
          <p:cNvSpPr/>
          <p:nvPr/>
        </p:nvSpPr>
        <p:spPr>
          <a:xfrm>
            <a:off x="534888" y="389260"/>
            <a:ext cx="1299270" cy="144140"/>
          </a:xfrm>
          <a:prstGeom prst="rect">
            <a:avLst/>
          </a:prstGeom>
          <a:noFill/>
          <a:ln/>
        </p:spPr>
        <p:txBody>
          <a:bodyPr wrap="none" lIns="0" tIns="0" rIns="0" bIns="0" rtlCol="0" anchor="t"/>
          <a:lstStyle/>
          <a:p>
            <a:pPr algn="l" indent="0" marL="0">
              <a:lnSpc>
                <a:spcPct val="129000"/>
              </a:lnSpc>
              <a:buNone/>
            </a:pPr>
            <a:r>
              <a:rPr lang="en-US" sz="700" dirty="0">
                <a:solidFill>
                  <a:srgbClr val="BDA189"/>
                </a:solidFill>
                <a:latin typeface="Manrope" pitchFamily="34" charset="0"/>
                <a:ea typeface="Manrope" pitchFamily="34" charset="-122"/>
                <a:cs typeface="Manrope" pitchFamily="34" charset="-120"/>
              </a:rPr>
              <a:t>DATA &amp; MESSAGING</a:t>
            </a:r>
            <a:endParaRPr lang="en-US" sz="700" dirty="0"/>
          </a:p>
        </p:txBody>
      </p:sp>
      <p:sp>
        <p:nvSpPr>
          <p:cNvPr id="4" name="Text 2"/>
          <p:cNvSpPr/>
          <p:nvPr/>
        </p:nvSpPr>
        <p:spPr>
          <a:xfrm>
            <a:off x="465162" y="611832"/>
            <a:ext cx="5069458" cy="363364"/>
          </a:xfrm>
          <a:prstGeom prst="rect">
            <a:avLst/>
          </a:prstGeom>
          <a:noFill/>
          <a:ln/>
        </p:spPr>
        <p:txBody>
          <a:bodyPr wrap="none" lIns="0" tIns="0" rIns="0" bIns="0" rtlCol="0" anchor="t"/>
          <a:lstStyle/>
          <a:p>
            <a:pPr algn="l" indent="0" marL="0">
              <a:lnSpc>
                <a:spcPct val="104000"/>
              </a:lnSpc>
              <a:buNone/>
            </a:pPr>
            <a:r>
              <a:rPr lang="en-US" sz="2250" dirty="0">
                <a:solidFill>
                  <a:srgbClr val="F2D4BA"/>
                </a:solidFill>
                <a:latin typeface="Prata" pitchFamily="34" charset="0"/>
                <a:ea typeface="Prata" pitchFamily="34" charset="-122"/>
                <a:cs typeface="Prata" pitchFamily="34" charset="-120"/>
              </a:rPr>
              <a:t>Data Layer and Async Messaging</a:t>
            </a:r>
            <a:endParaRPr lang="en-US" sz="2250" dirty="0"/>
          </a:p>
        </p:txBody>
      </p:sp>
      <p:sp>
        <p:nvSpPr>
          <p:cNvPr id="5" name="Shape 3"/>
          <p:cNvSpPr/>
          <p:nvPr/>
        </p:nvSpPr>
        <p:spPr>
          <a:xfrm>
            <a:off x="381446" y="1138684"/>
            <a:ext cx="4132436" cy="3650382"/>
          </a:xfrm>
          <a:prstGeom prst="roundRect">
            <a:avLst>
              <a:gd name="adj" fmla="val 478"/>
            </a:avLst>
          </a:prstGeom>
          <a:solidFill>
            <a:srgbClr val="84482D"/>
          </a:solidFill>
          <a:ln/>
        </p:spPr>
      </p:sp>
      <p:sp>
        <p:nvSpPr>
          <p:cNvPr id="6" name="Text 4"/>
          <p:cNvSpPr/>
          <p:nvPr/>
        </p:nvSpPr>
        <p:spPr>
          <a:xfrm>
            <a:off x="497681" y="1247701"/>
            <a:ext cx="1910804" cy="181645"/>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Cosmos DB</a:t>
            </a:r>
            <a:endParaRPr lang="en-US" sz="1100" dirty="0"/>
          </a:p>
        </p:txBody>
      </p:sp>
      <p:sp>
        <p:nvSpPr>
          <p:cNvPr id="7" name="Text 5"/>
          <p:cNvSpPr/>
          <p:nvPr/>
        </p:nvSpPr>
        <p:spPr>
          <a:xfrm>
            <a:off x="497681" y="1538362"/>
            <a:ext cx="3899967" cy="901154"/>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Account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jd-carenest-cosmos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uses MongoDB API v4.2 (Mongoose-compatible). Database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carenest</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has four collections: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users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(shard key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_id</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appointments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(shard key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patientId</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prescriptions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(shard key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appointmentId</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notifications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(shard key </a:t>
            </a:r>
            <a:pPr algn="l" indent="0" marL="0">
              <a:lnSpc>
                <a:spcPct val="129000"/>
              </a:lnSpc>
              <a:buNone/>
            </a:pPr>
            <a:r>
              <a:rPr lang="en-US" sz="900" dirty="0">
                <a:solidFill>
                  <a:srgbClr val="FFFFFF"/>
                </a:solidFill>
                <a:highlight>
                  <a:srgbClr val="91553A"/>
                </a:highlight>
                <a:latin typeface="Consolas" pitchFamily="34" charset="0"/>
                <a:ea typeface="Consolas" pitchFamily="34" charset="-122"/>
                <a:cs typeface="Consolas" pitchFamily="34" charset="-120"/>
              </a:rPr>
              <a:t>userId</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Private endpoint; connection string in Key Vault.</a:t>
            </a:r>
            <a:endParaRPr lang="en-US" sz="900" dirty="0"/>
          </a:p>
        </p:txBody>
      </p:sp>
      <p:sp>
        <p:nvSpPr>
          <p:cNvPr id="8" name="Text 6"/>
          <p:cNvSpPr/>
          <p:nvPr/>
        </p:nvSpPr>
        <p:spPr>
          <a:xfrm>
            <a:off x="497681" y="2548533"/>
            <a:ext cx="1910804" cy="181645"/>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Blob Storage</a:t>
            </a:r>
            <a:endParaRPr lang="en-US" sz="1100" dirty="0"/>
          </a:p>
        </p:txBody>
      </p:sp>
      <p:sp>
        <p:nvSpPr>
          <p:cNvPr id="9" name="Text 7"/>
          <p:cNvSpPr/>
          <p:nvPr/>
        </p:nvSpPr>
        <p:spPr>
          <a:xfrm>
            <a:off x="497681" y="2839194"/>
            <a:ext cx="3899967" cy="72092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Four containers: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prescriptions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(PDFs),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profile-pictures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(patient/doctor photos),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consultation-attachments</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(medical documents), </a:t>
            </a:r>
            <a:pPr algn="l" indent="0" marL="0">
              <a:lnSpc>
                <a:spcPct val="129000"/>
              </a:lnSpc>
              <a:buNone/>
            </a:pPr>
            <a:r>
              <a:rPr lang="en-US" sz="900" b="1" dirty="0">
                <a:solidFill>
                  <a:srgbClr val="FFFFFF"/>
                </a:solidFill>
                <a:latin typeface="Manrope" pitchFamily="34" charset="0"/>
                <a:ea typeface="Manrope" pitchFamily="34" charset="-122"/>
                <a:cs typeface="Manrope" pitchFamily="34" charset="-120"/>
              </a:rPr>
              <a:t>ai-foundry-storage</a:t>
            </a:r>
            <a:pPr algn="l" indent="0" marL="0">
              <a:lnSpc>
                <a:spcPct val="129000"/>
              </a:lnSpc>
              <a:buNone/>
            </a:pPr>
            <a:r>
              <a:rPr lang="en-US" sz="900" dirty="0">
                <a:solidFill>
                  <a:srgbClr val="FFFFFF"/>
                </a:solidFill>
                <a:latin typeface="Manrope" pitchFamily="34" charset="0"/>
                <a:ea typeface="Manrope" pitchFamily="34" charset="-122"/>
                <a:cs typeface="Manrope" pitchFamily="34" charset="-120"/>
              </a:rPr>
              <a:t> (AI Foundry Hub backend). Versioning enabled; private endpoint created.</a:t>
            </a:r>
            <a:endParaRPr lang="en-US" sz="900" dirty="0"/>
          </a:p>
        </p:txBody>
      </p:sp>
      <p:sp>
        <p:nvSpPr>
          <p:cNvPr id="10" name="Text 8"/>
          <p:cNvSpPr/>
          <p:nvPr/>
        </p:nvSpPr>
        <p:spPr>
          <a:xfrm>
            <a:off x="4718596" y="1247701"/>
            <a:ext cx="2788667" cy="181645"/>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Service Bus — Async Decoupling</a:t>
            </a:r>
            <a:endParaRPr lang="en-US" sz="1100" dirty="0"/>
          </a:p>
        </p:txBody>
      </p:sp>
      <p:sp>
        <p:nvSpPr>
          <p:cNvPr id="11" name="Text 9"/>
          <p:cNvSpPr/>
          <p:nvPr/>
        </p:nvSpPr>
        <p:spPr>
          <a:xfrm>
            <a:off x="4718596" y="1538362"/>
            <a:ext cx="3965004" cy="72092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Without Service Bus, if notify service is down, booking fails entirely. With Service Bus, appointment service saves to Cosmos DB, publishes to </a:t>
            </a:r>
            <a:pPr algn="l" indent="0" marL="0">
              <a:lnSpc>
                <a:spcPct val="129000"/>
              </a:lnSpc>
              <a:buNone/>
            </a:pPr>
            <a:r>
              <a:rPr lang="en-US" sz="900" dirty="0">
                <a:solidFill>
                  <a:srgbClr val="BDA189"/>
                </a:solidFill>
                <a:highlight>
                  <a:srgbClr val="2E3033"/>
                </a:highlight>
                <a:latin typeface="Consolas" pitchFamily="34" charset="0"/>
                <a:ea typeface="Consolas" pitchFamily="34" charset="-122"/>
                <a:cs typeface="Consolas" pitchFamily="34" charset="-120"/>
              </a:rPr>
              <a:t>appointment-created</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queue, and returns success immediately. Notify service reads independently when ready.</a:t>
            </a:r>
            <a:endParaRPr lang="en-US" sz="900" dirty="0"/>
          </a:p>
        </p:txBody>
      </p:sp>
      <p:sp>
        <p:nvSpPr>
          <p:cNvPr id="12" name="Text 10"/>
          <p:cNvSpPr/>
          <p:nvPr/>
        </p:nvSpPr>
        <p:spPr>
          <a:xfrm>
            <a:off x="4718596" y="2368302"/>
            <a:ext cx="1910804" cy="181645"/>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Six Queues</a:t>
            </a:r>
            <a:endParaRPr lang="en-US" sz="1100" dirty="0"/>
          </a:p>
        </p:txBody>
      </p:sp>
      <p:sp>
        <p:nvSpPr>
          <p:cNvPr id="13" name="Text 11"/>
          <p:cNvSpPr/>
          <p:nvPr/>
        </p:nvSpPr>
        <p:spPr>
          <a:xfrm>
            <a:off x="4718596" y="2658963"/>
            <a:ext cx="3965004" cy="1271885"/>
          </a:xfrm>
          <a:prstGeom prst="rect">
            <a:avLst/>
          </a:prstGeom>
          <a:noFill/>
          <a:ln/>
        </p:spPr>
        <p:txBody>
          <a:bodyPr wrap="square" lIns="0" tIns="0" rIns="0" bIns="0" rtlCol="0" anchor="t">
            <a:normAutofit/>
          </a:bodyPr>
          <a:lstStyle/>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appointment-created</a:t>
            </a:r>
            <a:endParaRPr lang="en-US" sz="900" dirty="0"/>
          </a:p>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appointment-confirmed</a:t>
            </a:r>
            <a:endParaRPr lang="en-US" sz="900" dirty="0"/>
          </a:p>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appointment-cancelled</a:t>
            </a:r>
            <a:endParaRPr lang="en-US" sz="900" dirty="0"/>
          </a:p>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appointment-completed</a:t>
            </a:r>
            <a:endParaRPr lang="en-US" sz="900" dirty="0"/>
          </a:p>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prescription-created</a:t>
            </a:r>
            <a:endParaRPr lang="en-US" sz="900" dirty="0"/>
          </a:p>
          <a:p>
            <a:pPr algn="l" marL="342900" indent="-342900">
              <a:lnSpc>
                <a:spcPct val="129000"/>
              </a:lnSpc>
              <a:buSzPct val="100000"/>
              <a:buChar char="•"/>
            </a:pPr>
            <a:r>
              <a:rPr lang="en-US" sz="900" dirty="0">
                <a:solidFill>
                  <a:srgbClr val="BDA189"/>
                </a:solidFill>
                <a:highlight>
                  <a:srgbClr val="2E3033"/>
                </a:highlight>
                <a:latin typeface="Consolas" pitchFamily="34" charset="0"/>
                <a:ea typeface="Consolas" pitchFamily="34" charset="-122"/>
                <a:cs typeface="Consolas" pitchFamily="34" charset="-120"/>
              </a:rPr>
              <a:t>notification-dispatch</a:t>
            </a:r>
            <a:endParaRPr lang="en-US" sz="900" dirty="0"/>
          </a:p>
        </p:txBody>
      </p:sp>
      <p:sp>
        <p:nvSpPr>
          <p:cNvPr id="14" name="Text 12"/>
          <p:cNvSpPr/>
          <p:nvPr/>
        </p:nvSpPr>
        <p:spPr>
          <a:xfrm>
            <a:off x="4718596" y="4039865"/>
            <a:ext cx="1965052" cy="181645"/>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Topic + Subscriptions</a:t>
            </a:r>
            <a:endParaRPr lang="en-US" sz="1100" dirty="0"/>
          </a:p>
        </p:txBody>
      </p:sp>
      <p:sp>
        <p:nvSpPr>
          <p:cNvPr id="15" name="Text 13"/>
          <p:cNvSpPr/>
          <p:nvPr/>
        </p:nvSpPr>
        <p:spPr>
          <a:xfrm>
            <a:off x="4718596" y="4330526"/>
            <a:ext cx="3965004"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A </a:t>
            </a:r>
            <a:pPr algn="l" indent="0" marL="0">
              <a:lnSpc>
                <a:spcPct val="129000"/>
              </a:lnSpc>
              <a:buNone/>
            </a:pPr>
            <a:r>
              <a:rPr lang="en-US" sz="900" b="1" dirty="0">
                <a:solidFill>
                  <a:srgbClr val="BDA189"/>
                </a:solidFill>
                <a:latin typeface="Manrope" pitchFamily="34" charset="0"/>
                <a:ea typeface="Manrope" pitchFamily="34" charset="-122"/>
                <a:cs typeface="Manrope" pitchFamily="34" charset="-120"/>
              </a:rPr>
              <a:t>notifications</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topic with </a:t>
            </a:r>
            <a:pPr algn="l" indent="0" marL="0">
              <a:lnSpc>
                <a:spcPct val="129000"/>
              </a:lnSpc>
              <a:buNone/>
            </a:pPr>
            <a:r>
              <a:rPr lang="en-US" sz="900" dirty="0">
                <a:solidFill>
                  <a:srgbClr val="BDA189"/>
                </a:solidFill>
                <a:highlight>
                  <a:srgbClr val="2E3033"/>
                </a:highlight>
                <a:latin typeface="Consolas" pitchFamily="34" charset="0"/>
                <a:ea typeface="Consolas" pitchFamily="34" charset="-122"/>
                <a:cs typeface="Consolas" pitchFamily="34" charset="-120"/>
              </a:rPr>
              <a:t>patient-sub</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and </a:t>
            </a:r>
            <a:pPr algn="l" indent="0" marL="0">
              <a:lnSpc>
                <a:spcPct val="129000"/>
              </a:lnSpc>
              <a:buNone/>
            </a:pPr>
            <a:r>
              <a:rPr lang="en-US" sz="900" dirty="0">
                <a:solidFill>
                  <a:srgbClr val="BDA189"/>
                </a:solidFill>
                <a:highlight>
                  <a:srgbClr val="2E3033"/>
                </a:highlight>
                <a:latin typeface="Consolas" pitchFamily="34" charset="0"/>
                <a:ea typeface="Consolas" pitchFamily="34" charset="-122"/>
                <a:cs typeface="Consolas" pitchFamily="34" charset="-120"/>
              </a:rPr>
              <a:t>doctor-sub</a:t>
            </a:r>
            <a:pPr algn="l" indent="0" marL="0">
              <a:lnSpc>
                <a:spcPct val="129000"/>
              </a:lnSpc>
              <a:buNone/>
            </a:pPr>
            <a:r>
              <a:rPr lang="en-US" sz="900" dirty="0">
                <a:solidFill>
                  <a:srgbClr val="BDA189"/>
                </a:solidFill>
                <a:latin typeface="Manrope" pitchFamily="34" charset="0"/>
                <a:ea typeface="Manrope" pitchFamily="34" charset="-122"/>
                <a:cs typeface="Manrope" pitchFamily="34" charset="-120"/>
              </a:rPr>
              <a:t> subscriptions delivers the same message to both parties simultaneously.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49610" y="309116"/>
            <a:ext cx="723156" cy="204564"/>
          </a:xfrm>
          <a:prstGeom prst="roundRect">
            <a:avLst>
              <a:gd name="adj" fmla="val 6595"/>
            </a:avLst>
          </a:prstGeom>
          <a:solidFill>
            <a:srgbClr val="391F13"/>
          </a:solidFill>
          <a:ln/>
        </p:spPr>
      </p:sp>
      <p:sp>
        <p:nvSpPr>
          <p:cNvPr id="3" name="Text 1"/>
          <p:cNvSpPr/>
          <p:nvPr/>
        </p:nvSpPr>
        <p:spPr>
          <a:xfrm>
            <a:off x="517029" y="342826"/>
            <a:ext cx="1045518" cy="137145"/>
          </a:xfrm>
          <a:prstGeom prst="rect">
            <a:avLst/>
          </a:prstGeom>
          <a:noFill/>
          <a:ln/>
        </p:spPr>
        <p:txBody>
          <a:bodyPr wrap="none" lIns="0" tIns="0" rIns="0" bIns="0" rtlCol="0" anchor="t"/>
          <a:lstStyle/>
          <a:p>
            <a:pPr algn="l" indent="0" marL="0">
              <a:lnSpc>
                <a:spcPct val="127000"/>
              </a:lnSpc>
              <a:buNone/>
            </a:pPr>
            <a:r>
              <a:rPr lang="en-US" sz="700" dirty="0">
                <a:solidFill>
                  <a:srgbClr val="BDA189"/>
                </a:solidFill>
                <a:latin typeface="Manrope" pitchFamily="34" charset="0"/>
                <a:ea typeface="Manrope" pitchFamily="34" charset="-122"/>
                <a:cs typeface="Manrope" pitchFamily="34" charset="-120"/>
              </a:rPr>
              <a:t>AI &amp; SECURITY</a:t>
            </a:r>
            <a:endParaRPr lang="en-US" sz="700" dirty="0"/>
          </a:p>
        </p:txBody>
      </p:sp>
      <p:sp>
        <p:nvSpPr>
          <p:cNvPr id="4" name="Text 2"/>
          <p:cNvSpPr/>
          <p:nvPr/>
        </p:nvSpPr>
        <p:spPr>
          <a:xfrm>
            <a:off x="449610" y="554385"/>
            <a:ext cx="4791224" cy="351309"/>
          </a:xfrm>
          <a:prstGeom prst="rect">
            <a:avLst/>
          </a:prstGeom>
          <a:noFill/>
          <a:ln/>
        </p:spPr>
        <p:txBody>
          <a:bodyPr wrap="none" lIns="0" tIns="0" rIns="0" bIns="0" rtlCol="0" anchor="t"/>
          <a:lstStyle/>
          <a:p>
            <a:pPr algn="l" indent="0" marL="0">
              <a:lnSpc>
                <a:spcPct val="104000"/>
              </a:lnSpc>
              <a:buNone/>
            </a:pPr>
            <a:r>
              <a:rPr lang="en-US" sz="2200" dirty="0">
                <a:solidFill>
                  <a:srgbClr val="F2D4BA"/>
                </a:solidFill>
                <a:latin typeface="Prata" pitchFamily="34" charset="0"/>
                <a:ea typeface="Prata" pitchFamily="34" charset="-122"/>
                <a:cs typeface="Prata" pitchFamily="34" charset="-120"/>
              </a:rPr>
              <a:t>AI Foundry and Security Design</a:t>
            </a:r>
            <a:endParaRPr lang="en-US" sz="2200" dirty="0"/>
          </a:p>
        </p:txBody>
      </p:sp>
      <p:sp>
        <p:nvSpPr>
          <p:cNvPr id="5" name="Text 3"/>
          <p:cNvSpPr/>
          <p:nvPr/>
        </p:nvSpPr>
        <p:spPr>
          <a:xfrm>
            <a:off x="449610" y="1160338"/>
            <a:ext cx="1862361" cy="175617"/>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Azure AI Foundry</a:t>
            </a:r>
            <a:endParaRPr lang="en-US" sz="1100" dirty="0"/>
          </a:p>
        </p:txBody>
      </p:sp>
      <p:sp>
        <p:nvSpPr>
          <p:cNvPr id="6" name="Text 4"/>
          <p:cNvSpPr/>
          <p:nvPr/>
        </p:nvSpPr>
        <p:spPr>
          <a:xfrm>
            <a:off x="449610" y="1437829"/>
            <a:ext cx="3985245"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BDA189"/>
                </a:solidFill>
                <a:latin typeface="Manrope" pitchFamily="34" charset="0"/>
                <a:ea typeface="Manrope" pitchFamily="34" charset="-122"/>
                <a:cs typeface="Manrope" pitchFamily="34" charset="-120"/>
              </a:rPr>
              <a:t>Azure OpenAI deploys in </a:t>
            </a:r>
            <a:pPr algn="l" indent="0" marL="0">
              <a:lnSpc>
                <a:spcPct val="127000"/>
              </a:lnSpc>
              <a:buNone/>
            </a:pPr>
            <a:r>
              <a:rPr lang="en-US" sz="850" b="1" dirty="0">
                <a:solidFill>
                  <a:srgbClr val="BDA189"/>
                </a:solidFill>
                <a:latin typeface="Manrope" pitchFamily="34" charset="0"/>
                <a:ea typeface="Manrope" pitchFamily="34" charset="-122"/>
                <a:cs typeface="Manrope" pitchFamily="34" charset="-120"/>
              </a:rPr>
              <a:t>Sweden Central</a:t>
            </a:r>
            <a:pPr algn="l" indent="0" marL="0">
              <a:lnSpc>
                <a:spcPct val="127000"/>
              </a:lnSpc>
              <a:buNone/>
            </a:pPr>
            <a:r>
              <a:rPr lang="en-US" sz="850" dirty="0">
                <a:solidFill>
                  <a:srgbClr val="BDA189"/>
                </a:solidFill>
                <a:latin typeface="Manrope" pitchFamily="34" charset="0"/>
                <a:ea typeface="Manrope" pitchFamily="34" charset="-122"/>
                <a:cs typeface="Manrope" pitchFamily="34" charset="-120"/>
              </a:rPr>
              <a:t> (unavailable in Switzerland North); AI Foundry Hub and Language Service stay in Switzerland North.</a:t>
            </a:r>
            <a:endParaRPr lang="en-US" sz="8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5322" y="1895326"/>
            <a:ext cx="3999533" cy="873696"/>
          </a:xfrm>
          <a:prstGeom prst="rect">
            <a:avLst/>
          </a:prstGeom>
        </p:spPr>
      </p:pic>
      <p:sp>
        <p:nvSpPr>
          <p:cNvPr id="8" name="Text 5"/>
          <p:cNvSpPr/>
          <p:nvPr/>
        </p:nvSpPr>
        <p:spPr>
          <a:xfrm>
            <a:off x="619125" y="2021979"/>
            <a:ext cx="1979712" cy="175617"/>
          </a:xfrm>
          <a:prstGeom prst="rect">
            <a:avLst/>
          </a:prstGeom>
          <a:noFill/>
          <a:ln/>
        </p:spPr>
        <p:txBody>
          <a:bodyPr wrap="none" lIns="0" tIns="0" rIns="0" bIns="0" rtlCol="0" anchor="t"/>
          <a:lstStyle/>
          <a:p>
            <a:pPr algn="l" indent="0" marL="0">
              <a:lnSpc>
                <a:spcPct val="104000"/>
              </a:lnSpc>
              <a:buNone/>
            </a:pPr>
            <a:r>
              <a:rPr lang="en-US" sz="1100" dirty="0">
                <a:solidFill>
                  <a:srgbClr val="BDA189"/>
                </a:solidFill>
                <a:latin typeface="Prata" pitchFamily="34" charset="0"/>
                <a:ea typeface="Prata" pitchFamily="34" charset="-122"/>
                <a:cs typeface="Prata" pitchFamily="34" charset="-120"/>
              </a:rPr>
              <a:t>GPT-4o — Symptom Analysis</a:t>
            </a:r>
            <a:endParaRPr lang="en-US" sz="1100" dirty="0"/>
          </a:p>
        </p:txBody>
      </p:sp>
      <p:sp>
        <p:nvSpPr>
          <p:cNvPr id="9" name="Text 6"/>
          <p:cNvSpPr/>
          <p:nvPr/>
        </p:nvSpPr>
        <p:spPr>
          <a:xfrm>
            <a:off x="619125" y="2299469"/>
            <a:ext cx="3689077"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BDA189"/>
                </a:solidFill>
                <a:latin typeface="Manrope" pitchFamily="34" charset="0"/>
                <a:ea typeface="Manrope" pitchFamily="34" charset="-122"/>
                <a:cs typeface="Manrope" pitchFamily="34" charset="-120"/>
              </a:rPr>
              <a:t>Reads available doctors and appointment slots from Cosmos DB, returns the most relevant specialty and urgency level.</a:t>
            </a:r>
            <a:endParaRPr lang="en-US" sz="8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2" y="2870895"/>
            <a:ext cx="3999533" cy="873696"/>
          </a:xfrm>
          <a:prstGeom prst="rect">
            <a:avLst/>
          </a:prstGeom>
        </p:spPr>
      </p:pic>
      <p:sp>
        <p:nvSpPr>
          <p:cNvPr id="11" name="Text 7"/>
          <p:cNvSpPr/>
          <p:nvPr/>
        </p:nvSpPr>
        <p:spPr>
          <a:xfrm>
            <a:off x="619125" y="2997547"/>
            <a:ext cx="2619970" cy="175617"/>
          </a:xfrm>
          <a:prstGeom prst="rect">
            <a:avLst/>
          </a:prstGeom>
          <a:noFill/>
          <a:ln/>
        </p:spPr>
        <p:txBody>
          <a:bodyPr wrap="none" lIns="0" tIns="0" rIns="0" bIns="0" rtlCol="0" anchor="t"/>
          <a:lstStyle/>
          <a:p>
            <a:pPr algn="l" indent="0" marL="0">
              <a:lnSpc>
                <a:spcPct val="104000"/>
              </a:lnSpc>
              <a:buNone/>
            </a:pPr>
            <a:r>
              <a:rPr lang="en-US" sz="1100" dirty="0">
                <a:solidFill>
                  <a:srgbClr val="BDA189"/>
                </a:solidFill>
                <a:latin typeface="Prata" pitchFamily="34" charset="0"/>
                <a:ea typeface="Prata" pitchFamily="34" charset="-122"/>
                <a:cs typeface="Prata" pitchFamily="34" charset="-120"/>
              </a:rPr>
              <a:t>GPT-4o Mini — Prescription Summary</a:t>
            </a:r>
            <a:endParaRPr lang="en-US" sz="1100" dirty="0"/>
          </a:p>
        </p:txBody>
      </p:sp>
      <p:sp>
        <p:nvSpPr>
          <p:cNvPr id="12" name="Text 8"/>
          <p:cNvSpPr/>
          <p:nvPr/>
        </p:nvSpPr>
        <p:spPr>
          <a:xfrm>
            <a:off x="619125" y="3275037"/>
            <a:ext cx="3689077"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BDA189"/>
                </a:solidFill>
                <a:latin typeface="Manrope" pitchFamily="34" charset="0"/>
                <a:ea typeface="Manrope" pitchFamily="34" charset="-122"/>
                <a:cs typeface="Manrope" pitchFamily="34" charset="-120"/>
              </a:rPr>
              <a:t>Converts clinical shorthand into plain language patients can understand.</a:t>
            </a:r>
            <a:endParaRPr lang="en-US" sz="8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5322" y="3846463"/>
            <a:ext cx="3999533" cy="873696"/>
          </a:xfrm>
          <a:prstGeom prst="rect">
            <a:avLst/>
          </a:prstGeom>
        </p:spPr>
      </p:pic>
      <p:sp>
        <p:nvSpPr>
          <p:cNvPr id="14" name="Text 9"/>
          <p:cNvSpPr/>
          <p:nvPr/>
        </p:nvSpPr>
        <p:spPr>
          <a:xfrm>
            <a:off x="619125" y="3973116"/>
            <a:ext cx="2143423" cy="175617"/>
          </a:xfrm>
          <a:prstGeom prst="rect">
            <a:avLst/>
          </a:prstGeom>
          <a:noFill/>
          <a:ln/>
        </p:spPr>
        <p:txBody>
          <a:bodyPr wrap="none" lIns="0" tIns="0" rIns="0" bIns="0" rtlCol="0" anchor="t"/>
          <a:lstStyle/>
          <a:p>
            <a:pPr algn="l" indent="0" marL="0">
              <a:lnSpc>
                <a:spcPct val="104000"/>
              </a:lnSpc>
              <a:buNone/>
            </a:pPr>
            <a:r>
              <a:rPr lang="en-US" sz="1100" dirty="0">
                <a:solidFill>
                  <a:srgbClr val="BDA189"/>
                </a:solidFill>
                <a:latin typeface="Prata" pitchFamily="34" charset="0"/>
                <a:ea typeface="Prata" pitchFamily="34" charset="-122"/>
                <a:cs typeface="Prata" pitchFamily="34" charset="-120"/>
              </a:rPr>
              <a:t>GPT-4o Mini — Patient Chatbot</a:t>
            </a:r>
            <a:endParaRPr lang="en-US" sz="1100" dirty="0"/>
          </a:p>
        </p:txBody>
      </p:sp>
      <p:sp>
        <p:nvSpPr>
          <p:cNvPr id="15" name="Text 10"/>
          <p:cNvSpPr/>
          <p:nvPr/>
        </p:nvSpPr>
        <p:spPr>
          <a:xfrm>
            <a:off x="619125" y="4250606"/>
            <a:ext cx="3689077"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BDA189"/>
                </a:solidFill>
                <a:latin typeface="Manrope" pitchFamily="34" charset="0"/>
                <a:ea typeface="Manrope" pitchFamily="34" charset="-122"/>
                <a:cs typeface="Manrope" pitchFamily="34" charset="-120"/>
              </a:rPr>
              <a:t>Fetches the patient's own appointment history and doctor notes for personalized answers.</a:t>
            </a:r>
            <a:endParaRPr lang="en-US" sz="850" dirty="0"/>
          </a:p>
        </p:txBody>
      </p:sp>
      <p:sp>
        <p:nvSpPr>
          <p:cNvPr id="16" name="Shape 11"/>
          <p:cNvSpPr/>
          <p:nvPr/>
        </p:nvSpPr>
        <p:spPr>
          <a:xfrm>
            <a:off x="4632945" y="1058466"/>
            <a:ext cx="4147170" cy="3776290"/>
          </a:xfrm>
          <a:prstGeom prst="roundRect">
            <a:avLst>
              <a:gd name="adj" fmla="val 447"/>
            </a:avLst>
          </a:prstGeom>
          <a:solidFill>
            <a:srgbClr val="84482D"/>
          </a:solidFill>
          <a:ln/>
        </p:spPr>
      </p:sp>
      <p:sp>
        <p:nvSpPr>
          <p:cNvPr id="17" name="Text 12"/>
          <p:cNvSpPr/>
          <p:nvPr/>
        </p:nvSpPr>
        <p:spPr>
          <a:xfrm>
            <a:off x="4745310" y="1160338"/>
            <a:ext cx="2020119" cy="175617"/>
          </a:xfrm>
          <a:prstGeom prst="rect">
            <a:avLst/>
          </a:prstGeom>
          <a:noFill/>
          <a:ln/>
        </p:spPr>
        <p:txBody>
          <a:bodyPr wrap="none" lIns="0" tIns="0" rIns="0" bIns="0" rtlCol="0" anchor="t"/>
          <a:lstStyle/>
          <a:p>
            <a:pPr algn="l" indent="0" marL="0">
              <a:lnSpc>
                <a:spcPct val="104000"/>
              </a:lnSpc>
              <a:buNone/>
            </a:pPr>
            <a:r>
              <a:rPr lang="en-US" sz="1100" dirty="0">
                <a:solidFill>
                  <a:srgbClr val="F2D4BA"/>
                </a:solidFill>
                <a:latin typeface="Prata" pitchFamily="34" charset="0"/>
                <a:ea typeface="Prata" pitchFamily="34" charset="-122"/>
                <a:cs typeface="Prata" pitchFamily="34" charset="-120"/>
              </a:rPr>
              <a:t>Security at Every Layer</a:t>
            </a:r>
            <a:endParaRPr lang="en-US" sz="1100" dirty="0"/>
          </a:p>
        </p:txBody>
      </p:sp>
      <p:sp>
        <p:nvSpPr>
          <p:cNvPr id="18" name="Text 13"/>
          <p:cNvSpPr/>
          <p:nvPr/>
        </p:nvSpPr>
        <p:spPr>
          <a:xfrm>
            <a:off x="4745310" y="1437829"/>
            <a:ext cx="3922440" cy="2028527"/>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850" b="1" dirty="0">
                <a:solidFill>
                  <a:srgbClr val="FFFFFF"/>
                </a:solidFill>
                <a:latin typeface="Manrope" pitchFamily="34" charset="0"/>
                <a:ea typeface="Manrope" pitchFamily="34" charset="-122"/>
                <a:cs typeface="Manrope" pitchFamily="34" charset="-120"/>
              </a:rPr>
              <a:t>Network Edge:</a:t>
            </a:r>
            <a:pPr algn="l" marL="342900" indent="-342900">
              <a:lnSpc>
                <a:spcPct val="127000"/>
              </a:lnSpc>
              <a:buSzPct val="100000"/>
              <a:buChar char="•"/>
            </a:pPr>
            <a:r>
              <a:rPr lang="en-US" sz="850" dirty="0">
                <a:solidFill>
                  <a:srgbClr val="FFFFFF"/>
                </a:solidFill>
                <a:latin typeface="Manrope" pitchFamily="34" charset="0"/>
                <a:ea typeface="Manrope" pitchFamily="34" charset="-122"/>
                <a:cs typeface="Manrope" pitchFamily="34" charset="-120"/>
              </a:rPr>
              <a:t> Front Door DDoS protection; App Gateway WAF v2 blocks SQL injection and XSS (OWASP 3.2, prevention mode)</a:t>
            </a:r>
            <a:endParaRPr lang="en-US" sz="850" dirty="0"/>
          </a:p>
          <a:p>
            <a:pPr algn="l" marL="342900" indent="-342900">
              <a:lnSpc>
                <a:spcPct val="127000"/>
              </a:lnSpc>
              <a:buSzPct val="100000"/>
              <a:buChar char="•"/>
            </a:pPr>
            <a:r>
              <a:rPr lang="en-US" sz="850" b="1" dirty="0">
                <a:solidFill>
                  <a:srgbClr val="FFFFFF"/>
                </a:solidFill>
                <a:latin typeface="Manrope" pitchFamily="34" charset="0"/>
                <a:ea typeface="Manrope" pitchFamily="34" charset="-122"/>
                <a:cs typeface="Manrope" pitchFamily="34" charset="-120"/>
              </a:rPr>
              <a:t>Identity:</a:t>
            </a:r>
            <a:pPr algn="l" marL="342900" indent="-342900">
              <a:lnSpc>
                <a:spcPct val="127000"/>
              </a:lnSpc>
              <a:buSzPct val="100000"/>
              <a:buChar char="•"/>
            </a:pPr>
            <a:r>
              <a:rPr lang="en-US" sz="850" dirty="0">
                <a:solidFill>
                  <a:srgbClr val="FFFFFF"/>
                </a:solidFill>
                <a:latin typeface="Manrope" pitchFamily="34" charset="0"/>
                <a:ea typeface="Manrope" pitchFamily="34" charset="-122"/>
                <a:cs typeface="Manrope" pitchFamily="34" charset="-120"/>
              </a:rPr>
              <a:t> All service-to-service auth uses Azure Managed Identities — zero passwords. Entra ID handles user auth with Patient and Doctor app roles</a:t>
            </a:r>
            <a:endParaRPr lang="en-US" sz="850" dirty="0"/>
          </a:p>
          <a:p>
            <a:pPr algn="l" marL="342900" indent="-342900">
              <a:lnSpc>
                <a:spcPct val="127000"/>
              </a:lnSpc>
              <a:buSzPct val="100000"/>
              <a:buChar char="•"/>
            </a:pPr>
            <a:r>
              <a:rPr lang="en-US" sz="850" b="1" dirty="0">
                <a:solidFill>
                  <a:srgbClr val="FFFFFF"/>
                </a:solidFill>
                <a:latin typeface="Manrope" pitchFamily="34" charset="0"/>
                <a:ea typeface="Manrope" pitchFamily="34" charset="-122"/>
                <a:cs typeface="Manrope" pitchFamily="34" charset="-120"/>
              </a:rPr>
              <a:t>Secrets:</a:t>
            </a:r>
            <a:pPr algn="l" marL="342900" indent="-342900">
              <a:lnSpc>
                <a:spcPct val="127000"/>
              </a:lnSpc>
              <a:buSzPct val="100000"/>
              <a:buChar char="•"/>
            </a:pPr>
            <a:r>
              <a:rPr lang="en-US" sz="850" dirty="0">
                <a:solidFill>
                  <a:srgbClr val="FFFFFF"/>
                </a:solidFill>
                <a:latin typeface="Manrope" pitchFamily="34" charset="0"/>
                <a:ea typeface="Manrope" pitchFamily="34" charset="-122"/>
                <a:cs typeface="Manrope" pitchFamily="34" charset="-120"/>
              </a:rPr>
              <a:t> All 10 secrets in Key Vault with private endpoint and RBAC authorization</a:t>
            </a:r>
            <a:endParaRPr lang="en-US" sz="850" dirty="0"/>
          </a:p>
          <a:p>
            <a:pPr algn="l" marL="342900" indent="-342900">
              <a:lnSpc>
                <a:spcPct val="127000"/>
              </a:lnSpc>
              <a:buSzPct val="100000"/>
              <a:buChar char="•"/>
            </a:pPr>
            <a:r>
              <a:rPr lang="en-US" sz="850" b="1" dirty="0">
                <a:solidFill>
                  <a:srgbClr val="FFFFFF"/>
                </a:solidFill>
                <a:latin typeface="Manrope" pitchFamily="34" charset="0"/>
                <a:ea typeface="Manrope" pitchFamily="34" charset="-122"/>
                <a:cs typeface="Manrope" pitchFamily="34" charset="-120"/>
              </a:rPr>
              <a:t>Network Isolation:</a:t>
            </a:r>
            <a:pPr algn="l" marL="342900" indent="-342900">
              <a:lnSpc>
                <a:spcPct val="127000"/>
              </a:lnSpc>
              <a:buSzPct val="100000"/>
              <a:buChar char="•"/>
            </a:pPr>
            <a:r>
              <a:rPr lang="en-US" sz="850" dirty="0">
                <a:solidFill>
                  <a:srgbClr val="FFFFFF"/>
                </a:solidFill>
                <a:latin typeface="Manrope" pitchFamily="34" charset="0"/>
                <a:ea typeface="Manrope" pitchFamily="34" charset="-122"/>
                <a:cs typeface="Manrope" pitchFamily="34" charset="-120"/>
              </a:rPr>
              <a:t> Key Vault, Cosmos DB, OpenAI, and Blob Storage have private endpoints — unreachable from the public internet</a:t>
            </a:r>
            <a:endParaRPr lang="en-US" sz="850" dirty="0"/>
          </a:p>
          <a:p>
            <a:pPr algn="l" marL="342900" indent="-342900">
              <a:lnSpc>
                <a:spcPct val="127000"/>
              </a:lnSpc>
              <a:buSzPct val="100000"/>
              <a:buChar char="•"/>
            </a:pPr>
            <a:r>
              <a:rPr lang="en-US" sz="850" b="1" dirty="0">
                <a:solidFill>
                  <a:srgbClr val="FFFFFF"/>
                </a:solidFill>
                <a:latin typeface="Manrope" pitchFamily="34" charset="0"/>
                <a:ea typeface="Manrope" pitchFamily="34" charset="-122"/>
                <a:cs typeface="Manrope" pitchFamily="34" charset="-120"/>
              </a:rPr>
              <a:t>Pod Network:</a:t>
            </a:r>
            <a:pPr algn="l" marL="342900" indent="-342900">
              <a:lnSpc>
                <a:spcPct val="127000"/>
              </a:lnSpc>
              <a:buSzPct val="100000"/>
              <a:buChar char="•"/>
            </a:pPr>
            <a:r>
              <a:rPr lang="en-US" sz="850" dirty="0">
                <a:solidFill>
                  <a:srgbClr val="FFFFFF"/>
                </a:solidFill>
                <a:latin typeface="Manrope" pitchFamily="34" charset="0"/>
                <a:ea typeface="Manrope" pitchFamily="34" charset="-122"/>
                <a:cs typeface="Manrope" pitchFamily="34" charset="-120"/>
              </a:rPr>
              <a:t> Calico NetworkPolicy enforces default-deny with explicit allow rules only between authorized services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285875" y="255240"/>
            <a:ext cx="4743227" cy="260449"/>
          </a:xfrm>
          <a:prstGeom prst="rect">
            <a:avLst/>
          </a:prstGeom>
          <a:noFill/>
          <a:ln/>
        </p:spPr>
        <p:txBody>
          <a:bodyPr wrap="none" lIns="0" tIns="0" rIns="0" bIns="0" rtlCol="0" anchor="t"/>
          <a:lstStyle/>
          <a:p>
            <a:pPr algn="l" indent="0" marL="0">
              <a:lnSpc>
                <a:spcPct val="104000"/>
              </a:lnSpc>
              <a:buNone/>
            </a:pPr>
            <a:r>
              <a:rPr lang="en-US" sz="1600" dirty="0">
                <a:solidFill>
                  <a:srgbClr val="F2D4BA"/>
                </a:solidFill>
                <a:latin typeface="Prata" pitchFamily="34" charset="0"/>
                <a:ea typeface="Prata" pitchFamily="34" charset="-122"/>
                <a:cs typeface="Prata" pitchFamily="34" charset="-120"/>
              </a:rPr>
              <a:t>Terraform Workflow and Project Summary</a:t>
            </a:r>
            <a:endParaRPr lang="en-US" sz="1600" dirty="0"/>
          </a:p>
        </p:txBody>
      </p:sp>
      <p:sp>
        <p:nvSpPr>
          <p:cNvPr id="3" name="Text 1"/>
          <p:cNvSpPr/>
          <p:nvPr/>
        </p:nvSpPr>
        <p:spPr>
          <a:xfrm>
            <a:off x="1285875" y="538088"/>
            <a:ext cx="2124149" cy="130225"/>
          </a:xfrm>
          <a:prstGeom prst="rect">
            <a:avLst/>
          </a:prstGeom>
          <a:noFill/>
          <a:ln/>
        </p:spPr>
        <p:txBody>
          <a:bodyPr wrap="none" lIns="0" tIns="0" rIns="0" bIns="0" rtlCol="0" anchor="t"/>
          <a:lstStyle/>
          <a:p>
            <a:pPr algn="l" indent="0" marL="0">
              <a:lnSpc>
                <a:spcPct val="104000"/>
              </a:lnSpc>
              <a:buNone/>
            </a:pPr>
            <a:r>
              <a:rPr lang="en-US" sz="800" dirty="0">
                <a:solidFill>
                  <a:srgbClr val="F2D4BA"/>
                </a:solidFill>
                <a:latin typeface="Prata" pitchFamily="34" charset="0"/>
                <a:ea typeface="Prata" pitchFamily="34" charset="-122"/>
                <a:cs typeface="Prata" pitchFamily="34" charset="-120"/>
              </a:rPr>
              <a:t>Terraform Deployment Workflow</a:t>
            </a:r>
            <a:endParaRPr lang="en-US" sz="800" dirty="0"/>
          </a:p>
        </p:txBody>
      </p:sp>
      <p:sp>
        <p:nvSpPr>
          <p:cNvPr id="4" name="Text 2"/>
          <p:cNvSpPr/>
          <p:nvPr/>
        </p:nvSpPr>
        <p:spPr>
          <a:xfrm>
            <a:off x="1285875" y="752252"/>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01</a:t>
            </a:r>
            <a:endParaRPr lang="en-US" sz="650" dirty="0"/>
          </a:p>
        </p:txBody>
      </p:sp>
      <p:sp>
        <p:nvSpPr>
          <p:cNvPr id="5" name="Shape 3"/>
          <p:cNvSpPr/>
          <p:nvPr/>
        </p:nvSpPr>
        <p:spPr>
          <a:xfrm>
            <a:off x="1285875" y="884411"/>
            <a:ext cx="2153394" cy="9525"/>
          </a:xfrm>
          <a:prstGeom prst="rect">
            <a:avLst/>
          </a:prstGeom>
          <a:solidFill>
            <a:srgbClr val="84482D"/>
          </a:solidFill>
          <a:ln/>
        </p:spPr>
      </p:sp>
      <p:sp>
        <p:nvSpPr>
          <p:cNvPr id="6" name="Text 4"/>
          <p:cNvSpPr/>
          <p:nvPr/>
        </p:nvSpPr>
        <p:spPr>
          <a:xfrm>
            <a:off x="1285875" y="945133"/>
            <a:ext cx="1075879"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Remote State Storage</a:t>
            </a:r>
            <a:endParaRPr lang="en-US" sz="800" dirty="0"/>
          </a:p>
        </p:txBody>
      </p:sp>
      <p:sp>
        <p:nvSpPr>
          <p:cNvPr id="7" name="Text 5"/>
          <p:cNvSpPr/>
          <p:nvPr/>
        </p:nvSpPr>
        <p:spPr>
          <a:xfrm>
            <a:off x="1285875" y="1108918"/>
            <a:ext cx="2153394"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Create Azure Blob Storage for Terraform state — enables team collaboration and protects against data loss.</a:t>
            </a:r>
            <a:endParaRPr lang="en-US" sz="650" dirty="0"/>
          </a:p>
        </p:txBody>
      </p:sp>
      <p:sp>
        <p:nvSpPr>
          <p:cNvPr id="8" name="Text 6"/>
          <p:cNvSpPr/>
          <p:nvPr/>
        </p:nvSpPr>
        <p:spPr>
          <a:xfrm>
            <a:off x="3495229" y="752252"/>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02</a:t>
            </a:r>
            <a:endParaRPr lang="en-US" sz="650" dirty="0"/>
          </a:p>
        </p:txBody>
      </p:sp>
      <p:sp>
        <p:nvSpPr>
          <p:cNvPr id="9" name="Shape 7"/>
          <p:cNvSpPr/>
          <p:nvPr/>
        </p:nvSpPr>
        <p:spPr>
          <a:xfrm>
            <a:off x="3495229" y="884411"/>
            <a:ext cx="2153469" cy="9525"/>
          </a:xfrm>
          <a:prstGeom prst="rect">
            <a:avLst/>
          </a:prstGeom>
          <a:solidFill>
            <a:srgbClr val="84482D"/>
          </a:solidFill>
          <a:ln/>
        </p:spPr>
      </p:sp>
      <p:sp>
        <p:nvSpPr>
          <p:cNvPr id="10" name="Text 8"/>
          <p:cNvSpPr/>
          <p:nvPr/>
        </p:nvSpPr>
        <p:spPr>
          <a:xfrm>
            <a:off x="3495229" y="945133"/>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terraform init</a:t>
            </a:r>
            <a:endParaRPr lang="en-US" sz="800" dirty="0"/>
          </a:p>
        </p:txBody>
      </p:sp>
      <p:sp>
        <p:nvSpPr>
          <p:cNvPr id="11" name="Text 9"/>
          <p:cNvSpPr/>
          <p:nvPr/>
        </p:nvSpPr>
        <p:spPr>
          <a:xfrm>
            <a:off x="3495229" y="1108918"/>
            <a:ext cx="2153469"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Downloads provider plugins and configures the backend.</a:t>
            </a:r>
            <a:endParaRPr lang="en-US" sz="650" dirty="0"/>
          </a:p>
        </p:txBody>
      </p:sp>
      <p:sp>
        <p:nvSpPr>
          <p:cNvPr id="12" name="Text 10"/>
          <p:cNvSpPr/>
          <p:nvPr/>
        </p:nvSpPr>
        <p:spPr>
          <a:xfrm>
            <a:off x="5704656" y="752252"/>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03</a:t>
            </a:r>
            <a:endParaRPr lang="en-US" sz="650" dirty="0"/>
          </a:p>
        </p:txBody>
      </p:sp>
      <p:sp>
        <p:nvSpPr>
          <p:cNvPr id="13" name="Shape 11"/>
          <p:cNvSpPr/>
          <p:nvPr/>
        </p:nvSpPr>
        <p:spPr>
          <a:xfrm>
            <a:off x="5704656" y="884411"/>
            <a:ext cx="2153394" cy="9525"/>
          </a:xfrm>
          <a:prstGeom prst="rect">
            <a:avLst/>
          </a:prstGeom>
          <a:solidFill>
            <a:srgbClr val="84482D"/>
          </a:solidFill>
          <a:ln/>
        </p:spPr>
      </p:sp>
      <p:sp>
        <p:nvSpPr>
          <p:cNvPr id="14" name="Text 12"/>
          <p:cNvSpPr/>
          <p:nvPr/>
        </p:nvSpPr>
        <p:spPr>
          <a:xfrm>
            <a:off x="5704656" y="945133"/>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terraform validate</a:t>
            </a:r>
            <a:endParaRPr lang="en-US" sz="800" dirty="0"/>
          </a:p>
        </p:txBody>
      </p:sp>
      <p:sp>
        <p:nvSpPr>
          <p:cNvPr id="15" name="Text 13"/>
          <p:cNvSpPr/>
          <p:nvPr/>
        </p:nvSpPr>
        <p:spPr>
          <a:xfrm>
            <a:off x="5704656" y="1108918"/>
            <a:ext cx="2153394"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Checks syntax across all 13 modules.</a:t>
            </a:r>
            <a:endParaRPr lang="en-US" sz="650" dirty="0"/>
          </a:p>
        </p:txBody>
      </p:sp>
      <p:sp>
        <p:nvSpPr>
          <p:cNvPr id="16" name="Text 14"/>
          <p:cNvSpPr/>
          <p:nvPr/>
        </p:nvSpPr>
        <p:spPr>
          <a:xfrm>
            <a:off x="1285875" y="1450330"/>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04</a:t>
            </a:r>
            <a:endParaRPr lang="en-US" sz="650" dirty="0"/>
          </a:p>
        </p:txBody>
      </p:sp>
      <p:sp>
        <p:nvSpPr>
          <p:cNvPr id="17" name="Shape 15"/>
          <p:cNvSpPr/>
          <p:nvPr/>
        </p:nvSpPr>
        <p:spPr>
          <a:xfrm>
            <a:off x="1285875" y="1582489"/>
            <a:ext cx="2153394" cy="9525"/>
          </a:xfrm>
          <a:prstGeom prst="rect">
            <a:avLst/>
          </a:prstGeom>
          <a:solidFill>
            <a:srgbClr val="84482D"/>
          </a:solidFill>
          <a:ln/>
        </p:spPr>
      </p:sp>
      <p:sp>
        <p:nvSpPr>
          <p:cNvPr id="18" name="Text 16"/>
          <p:cNvSpPr/>
          <p:nvPr/>
        </p:nvSpPr>
        <p:spPr>
          <a:xfrm>
            <a:off x="1285875" y="1643211"/>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terraform plan</a:t>
            </a:r>
            <a:endParaRPr lang="en-US" sz="800" dirty="0"/>
          </a:p>
        </p:txBody>
      </p:sp>
      <p:sp>
        <p:nvSpPr>
          <p:cNvPr id="19" name="Text 17"/>
          <p:cNvSpPr/>
          <p:nvPr/>
        </p:nvSpPr>
        <p:spPr>
          <a:xfrm>
            <a:off x="1285875" y="1806997"/>
            <a:ext cx="2153394"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Shows all 60+ resources to be created — zero changes made.</a:t>
            </a:r>
            <a:endParaRPr lang="en-US" sz="650" dirty="0"/>
          </a:p>
        </p:txBody>
      </p:sp>
      <p:sp>
        <p:nvSpPr>
          <p:cNvPr id="20" name="Text 18"/>
          <p:cNvSpPr/>
          <p:nvPr/>
        </p:nvSpPr>
        <p:spPr>
          <a:xfrm>
            <a:off x="3495229" y="1450330"/>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05</a:t>
            </a:r>
            <a:endParaRPr lang="en-US" sz="650" dirty="0"/>
          </a:p>
        </p:txBody>
      </p:sp>
      <p:sp>
        <p:nvSpPr>
          <p:cNvPr id="21" name="Shape 19"/>
          <p:cNvSpPr/>
          <p:nvPr/>
        </p:nvSpPr>
        <p:spPr>
          <a:xfrm>
            <a:off x="3495229" y="1582489"/>
            <a:ext cx="2153469" cy="9525"/>
          </a:xfrm>
          <a:prstGeom prst="rect">
            <a:avLst/>
          </a:prstGeom>
          <a:solidFill>
            <a:srgbClr val="84482D"/>
          </a:solidFill>
          <a:ln/>
        </p:spPr>
      </p:sp>
      <p:sp>
        <p:nvSpPr>
          <p:cNvPr id="22" name="Text 20"/>
          <p:cNvSpPr/>
          <p:nvPr/>
        </p:nvSpPr>
        <p:spPr>
          <a:xfrm>
            <a:off x="3495229" y="1643211"/>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terraform apply</a:t>
            </a:r>
            <a:endParaRPr lang="en-US" sz="800" dirty="0"/>
          </a:p>
        </p:txBody>
      </p:sp>
      <p:sp>
        <p:nvSpPr>
          <p:cNvPr id="23" name="Text 21"/>
          <p:cNvSpPr/>
          <p:nvPr/>
        </p:nvSpPr>
        <p:spPr>
          <a:xfrm>
            <a:off x="3495229" y="1806997"/>
            <a:ext cx="2153469"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Creates all resources in correct dependency order (~20 minutes).</a:t>
            </a:r>
            <a:endParaRPr lang="en-US" sz="650" dirty="0"/>
          </a:p>
        </p:txBody>
      </p:sp>
      <p:sp>
        <p:nvSpPr>
          <p:cNvPr id="24" name="Text 22"/>
          <p:cNvSpPr/>
          <p:nvPr/>
        </p:nvSpPr>
        <p:spPr>
          <a:xfrm>
            <a:off x="5704656" y="1450330"/>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06</a:t>
            </a:r>
            <a:endParaRPr lang="en-US" sz="650" dirty="0"/>
          </a:p>
        </p:txBody>
      </p:sp>
      <p:sp>
        <p:nvSpPr>
          <p:cNvPr id="25" name="Shape 23"/>
          <p:cNvSpPr/>
          <p:nvPr/>
        </p:nvSpPr>
        <p:spPr>
          <a:xfrm>
            <a:off x="5704656" y="1582489"/>
            <a:ext cx="2153394" cy="9525"/>
          </a:xfrm>
          <a:prstGeom prst="rect">
            <a:avLst/>
          </a:prstGeom>
          <a:solidFill>
            <a:srgbClr val="84482D"/>
          </a:solidFill>
          <a:ln/>
        </p:spPr>
      </p:sp>
      <p:sp>
        <p:nvSpPr>
          <p:cNvPr id="26" name="Text 24"/>
          <p:cNvSpPr/>
          <p:nvPr/>
        </p:nvSpPr>
        <p:spPr>
          <a:xfrm>
            <a:off x="5704656" y="1643211"/>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Get AKS Credentials</a:t>
            </a:r>
            <a:endParaRPr lang="en-US" sz="800" dirty="0"/>
          </a:p>
        </p:txBody>
      </p:sp>
      <p:sp>
        <p:nvSpPr>
          <p:cNvPr id="27" name="Text 25"/>
          <p:cNvSpPr/>
          <p:nvPr/>
        </p:nvSpPr>
        <p:spPr>
          <a:xfrm>
            <a:off x="5704656" y="1806997"/>
            <a:ext cx="2153394"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highlight>
                  <a:srgbClr val="2E3033"/>
                </a:highlight>
                <a:latin typeface="Consolas" pitchFamily="34" charset="0"/>
                <a:ea typeface="Consolas" pitchFamily="34" charset="-122"/>
                <a:cs typeface="Consolas" pitchFamily="34" charset="-120"/>
              </a:rPr>
              <a:t>az aks get-credentials</a:t>
            </a:r>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 and verify with </a:t>
            </a:r>
            <a:pPr algn="l" indent="0" marL="0">
              <a:lnSpc>
                <a:spcPct val="111000"/>
              </a:lnSpc>
              <a:buNone/>
            </a:pPr>
            <a:r>
              <a:rPr lang="en-US" sz="650" dirty="0">
                <a:solidFill>
                  <a:srgbClr val="BDA189"/>
                </a:solidFill>
                <a:highlight>
                  <a:srgbClr val="2E3033"/>
                </a:highlight>
                <a:latin typeface="Consolas" pitchFamily="34" charset="0"/>
                <a:ea typeface="Consolas" pitchFamily="34" charset="-122"/>
                <a:cs typeface="Consolas" pitchFamily="34" charset="-120"/>
              </a:rPr>
              <a:t>kubectl get nodes</a:t>
            </a:r>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a:t>
            </a:r>
            <a:endParaRPr lang="en-US" sz="650" dirty="0"/>
          </a:p>
        </p:txBody>
      </p:sp>
      <p:sp>
        <p:nvSpPr>
          <p:cNvPr id="28" name="Text 26"/>
          <p:cNvSpPr/>
          <p:nvPr/>
        </p:nvSpPr>
        <p:spPr>
          <a:xfrm>
            <a:off x="1285875" y="2148408"/>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BDA189"/>
                </a:solidFill>
                <a:latin typeface="Prata Light" pitchFamily="34" charset="0"/>
                <a:ea typeface="Prata Light" pitchFamily="34" charset="-122"/>
                <a:cs typeface="Prata Light" pitchFamily="34" charset="-120"/>
              </a:rPr>
              <a:t>07</a:t>
            </a:r>
            <a:endParaRPr lang="en-US" sz="650" dirty="0"/>
          </a:p>
        </p:txBody>
      </p:sp>
      <p:sp>
        <p:nvSpPr>
          <p:cNvPr id="29" name="Shape 27"/>
          <p:cNvSpPr/>
          <p:nvPr/>
        </p:nvSpPr>
        <p:spPr>
          <a:xfrm>
            <a:off x="1285875" y="2280568"/>
            <a:ext cx="6572176" cy="9525"/>
          </a:xfrm>
          <a:prstGeom prst="rect">
            <a:avLst/>
          </a:prstGeom>
          <a:solidFill>
            <a:srgbClr val="84482D"/>
          </a:solidFill>
          <a:ln/>
        </p:spPr>
      </p:sp>
      <p:sp>
        <p:nvSpPr>
          <p:cNvPr id="30" name="Text 28"/>
          <p:cNvSpPr/>
          <p:nvPr/>
        </p:nvSpPr>
        <p:spPr>
          <a:xfrm>
            <a:off x="1285875" y="2341290"/>
            <a:ext cx="1041797" cy="130225"/>
          </a:xfrm>
          <a:prstGeom prst="rect">
            <a:avLst/>
          </a:prstGeom>
          <a:noFill/>
          <a:ln/>
        </p:spPr>
        <p:txBody>
          <a:bodyPr wrap="none" lIns="0" tIns="0" rIns="0" bIns="0" rtlCol="0" anchor="t"/>
          <a:lstStyle/>
          <a:p>
            <a:pPr algn="l" indent="0" marL="0">
              <a:lnSpc>
                <a:spcPct val="104000"/>
              </a:lnSpc>
              <a:buNone/>
            </a:pPr>
            <a:r>
              <a:rPr lang="en-US" sz="800" dirty="0">
                <a:solidFill>
                  <a:srgbClr val="BDA189"/>
                </a:solidFill>
                <a:latin typeface="Prata" pitchFamily="34" charset="0"/>
                <a:ea typeface="Prata" pitchFamily="34" charset="-122"/>
                <a:cs typeface="Prata" pitchFamily="34" charset="-120"/>
              </a:rPr>
              <a:t>Deploy Application</a:t>
            </a:r>
            <a:endParaRPr lang="en-US" sz="800" dirty="0"/>
          </a:p>
        </p:txBody>
      </p:sp>
      <p:sp>
        <p:nvSpPr>
          <p:cNvPr id="31" name="Text 29"/>
          <p:cNvSpPr/>
          <p:nvPr/>
        </p:nvSpPr>
        <p:spPr>
          <a:xfrm>
            <a:off x="1285875" y="2505075"/>
            <a:ext cx="6572176"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highlight>
                  <a:srgbClr val="2E3033"/>
                </a:highlight>
                <a:latin typeface="Consolas" pitchFamily="34" charset="0"/>
                <a:ea typeface="Consolas" pitchFamily="34" charset="-122"/>
                <a:cs typeface="Consolas" pitchFamily="34" charset="-120"/>
              </a:rPr>
              <a:t>kubectl apply</a:t>
            </a:r>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 for all Kubernetes manifests.</a:t>
            </a:r>
            <a:endParaRPr lang="en-US" sz="650" dirty="0"/>
          </a:p>
        </p:txBody>
      </p:sp>
      <p:sp>
        <p:nvSpPr>
          <p:cNvPr id="32" name="Text 30"/>
          <p:cNvSpPr/>
          <p:nvPr/>
        </p:nvSpPr>
        <p:spPr>
          <a:xfrm>
            <a:off x="1285875" y="2762994"/>
            <a:ext cx="1498997" cy="130225"/>
          </a:xfrm>
          <a:prstGeom prst="rect">
            <a:avLst/>
          </a:prstGeom>
          <a:noFill/>
          <a:ln/>
        </p:spPr>
        <p:txBody>
          <a:bodyPr wrap="none" lIns="0" tIns="0" rIns="0" bIns="0" rtlCol="0" anchor="t"/>
          <a:lstStyle/>
          <a:p>
            <a:pPr algn="l" indent="0" marL="0">
              <a:lnSpc>
                <a:spcPct val="104000"/>
              </a:lnSpc>
              <a:buNone/>
            </a:pPr>
            <a:r>
              <a:rPr lang="en-US" sz="800" dirty="0">
                <a:solidFill>
                  <a:srgbClr val="F2D4BA"/>
                </a:solidFill>
                <a:latin typeface="Prata" pitchFamily="34" charset="0"/>
                <a:ea typeface="Prata" pitchFamily="34" charset="-122"/>
                <a:cs typeface="Prata" pitchFamily="34" charset="-120"/>
              </a:rPr>
              <a:t>What Was Built</a:t>
            </a:r>
            <a:endParaRPr lang="en-US" sz="800" dirty="0"/>
          </a:p>
        </p:txBody>
      </p:sp>
      <p:sp>
        <p:nvSpPr>
          <p:cNvPr id="33" name="Shape 31"/>
          <p:cNvSpPr/>
          <p:nvPr/>
        </p:nvSpPr>
        <p:spPr>
          <a:xfrm>
            <a:off x="1285875" y="2977158"/>
            <a:ext cx="6572250" cy="1547813"/>
          </a:xfrm>
          <a:prstGeom prst="roundRect">
            <a:avLst>
              <a:gd name="adj" fmla="val 808"/>
            </a:avLst>
          </a:prstGeom>
          <a:noFill/>
          <a:ln w="4763">
            <a:solidFill>
              <a:srgbClr val="FFFFFF">
                <a:alpha val="24000"/>
              </a:srgbClr>
            </a:solidFill>
            <a:prstDash val="solid"/>
          </a:ln>
        </p:spPr>
      </p:sp>
      <p:sp>
        <p:nvSpPr>
          <p:cNvPr id="34" name="Text 32"/>
          <p:cNvSpPr/>
          <p:nvPr/>
        </p:nvSpPr>
        <p:spPr>
          <a:xfrm>
            <a:off x="1374056" y="3020244"/>
            <a:ext cx="2585070" cy="111472"/>
          </a:xfrm>
          <a:prstGeom prst="rect">
            <a:avLst/>
          </a:prstGeom>
          <a:noFill/>
          <a:ln/>
        </p:spPr>
        <p:txBody>
          <a:bodyPr wrap="none" lIns="0" tIns="0" rIns="0" bIns="0" rtlCol="0" anchor="t"/>
          <a:lstStyle/>
          <a:p>
            <a:pPr algn="l" indent="0" marL="0">
              <a:lnSpc>
                <a:spcPct val="111000"/>
              </a:lnSpc>
              <a:buNone/>
            </a:pPr>
            <a:r>
              <a:rPr lang="en-US" sz="650" b="1" dirty="0">
                <a:solidFill>
                  <a:srgbClr val="BDA189"/>
                </a:solidFill>
                <a:latin typeface="Manrope" pitchFamily="34" charset="0"/>
                <a:ea typeface="Manrope" pitchFamily="34" charset="-122"/>
                <a:cs typeface="Manrope" pitchFamily="34" charset="-120"/>
              </a:rPr>
              <a:t>Category</a:t>
            </a:r>
            <a:endParaRPr lang="en-US" sz="650" dirty="0"/>
          </a:p>
        </p:txBody>
      </p:sp>
      <p:sp>
        <p:nvSpPr>
          <p:cNvPr id="35" name="Text 33"/>
          <p:cNvSpPr/>
          <p:nvPr/>
        </p:nvSpPr>
        <p:spPr>
          <a:xfrm>
            <a:off x="3673376" y="3020244"/>
            <a:ext cx="4553843" cy="111472"/>
          </a:xfrm>
          <a:prstGeom prst="rect">
            <a:avLst/>
          </a:prstGeom>
          <a:noFill/>
          <a:ln/>
        </p:spPr>
        <p:txBody>
          <a:bodyPr wrap="none" lIns="0" tIns="0" rIns="0" bIns="0" rtlCol="0" anchor="t"/>
          <a:lstStyle/>
          <a:p>
            <a:pPr algn="l" indent="0" marL="0">
              <a:lnSpc>
                <a:spcPct val="111000"/>
              </a:lnSpc>
              <a:buNone/>
            </a:pPr>
            <a:r>
              <a:rPr lang="en-US" sz="650" b="1" dirty="0">
                <a:solidFill>
                  <a:srgbClr val="BDA189"/>
                </a:solidFill>
                <a:latin typeface="Manrope" pitchFamily="34" charset="0"/>
                <a:ea typeface="Manrope" pitchFamily="34" charset="-122"/>
                <a:cs typeface="Manrope" pitchFamily="34" charset="-120"/>
              </a:rPr>
              <a:t>Details</a:t>
            </a:r>
            <a:endParaRPr lang="en-US" sz="650" dirty="0"/>
          </a:p>
        </p:txBody>
      </p:sp>
      <p:sp>
        <p:nvSpPr>
          <p:cNvPr id="36" name="Text 34"/>
          <p:cNvSpPr/>
          <p:nvPr/>
        </p:nvSpPr>
        <p:spPr>
          <a:xfrm>
            <a:off x="1374056" y="3213125"/>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Terraform Modules</a:t>
            </a:r>
            <a:endParaRPr lang="en-US" sz="650" dirty="0"/>
          </a:p>
        </p:txBody>
      </p:sp>
      <p:sp>
        <p:nvSpPr>
          <p:cNvPr id="37" name="Text 35"/>
          <p:cNvSpPr/>
          <p:nvPr/>
        </p:nvSpPr>
        <p:spPr>
          <a:xfrm>
            <a:off x="3673376" y="3213125"/>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13 modules · 60+ Azure resources</a:t>
            </a:r>
            <a:endParaRPr lang="en-US" sz="650" dirty="0"/>
          </a:p>
        </p:txBody>
      </p:sp>
      <p:sp>
        <p:nvSpPr>
          <p:cNvPr id="38" name="Text 36"/>
          <p:cNvSpPr/>
          <p:nvPr/>
        </p:nvSpPr>
        <p:spPr>
          <a:xfrm>
            <a:off x="1374056" y="3406006"/>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Infrastructure</a:t>
            </a:r>
            <a:endParaRPr lang="en-US" sz="650" dirty="0"/>
          </a:p>
        </p:txBody>
      </p:sp>
      <p:sp>
        <p:nvSpPr>
          <p:cNvPr id="39" name="Text 37"/>
          <p:cNvSpPr/>
          <p:nvPr/>
        </p:nvSpPr>
        <p:spPr>
          <a:xfrm>
            <a:off x="3673376" y="3406006"/>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Terraform, Azure, AKS Kubernetes 1.35.5, Envoy Gateway</a:t>
            </a:r>
            <a:endParaRPr lang="en-US" sz="650" dirty="0"/>
          </a:p>
        </p:txBody>
      </p:sp>
      <p:sp>
        <p:nvSpPr>
          <p:cNvPr id="40" name="Text 38"/>
          <p:cNvSpPr/>
          <p:nvPr/>
        </p:nvSpPr>
        <p:spPr>
          <a:xfrm>
            <a:off x="1374056" y="3598887"/>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Data &amp; Messaging</a:t>
            </a:r>
            <a:endParaRPr lang="en-US" sz="650" dirty="0"/>
          </a:p>
        </p:txBody>
      </p:sp>
      <p:sp>
        <p:nvSpPr>
          <p:cNvPr id="41" name="Text 39"/>
          <p:cNvSpPr/>
          <p:nvPr/>
        </p:nvSpPr>
        <p:spPr>
          <a:xfrm>
            <a:off x="3673376" y="3598887"/>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Cosmos DB MongoDB API, Service Bus (6 queues + 1 topic), Blob Storage</a:t>
            </a:r>
            <a:endParaRPr lang="en-US" sz="650" dirty="0"/>
          </a:p>
        </p:txBody>
      </p:sp>
      <p:sp>
        <p:nvSpPr>
          <p:cNvPr id="42" name="Text 40"/>
          <p:cNvSpPr/>
          <p:nvPr/>
        </p:nvSpPr>
        <p:spPr>
          <a:xfrm>
            <a:off x="1374056" y="3791769"/>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AI Services</a:t>
            </a:r>
            <a:endParaRPr lang="en-US" sz="650" dirty="0"/>
          </a:p>
        </p:txBody>
      </p:sp>
      <p:sp>
        <p:nvSpPr>
          <p:cNvPr id="43" name="Text 41"/>
          <p:cNvSpPr/>
          <p:nvPr/>
        </p:nvSpPr>
        <p:spPr>
          <a:xfrm>
            <a:off x="3673376" y="3791769"/>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GPT-4o, GPT-4o Mini, Azure AI Language</a:t>
            </a:r>
            <a:endParaRPr lang="en-US" sz="650" dirty="0"/>
          </a:p>
        </p:txBody>
      </p:sp>
      <p:sp>
        <p:nvSpPr>
          <p:cNvPr id="44" name="Text 42"/>
          <p:cNvSpPr/>
          <p:nvPr/>
        </p:nvSpPr>
        <p:spPr>
          <a:xfrm>
            <a:off x="1374056" y="3984650"/>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Security</a:t>
            </a:r>
            <a:endParaRPr lang="en-US" sz="650" dirty="0"/>
          </a:p>
        </p:txBody>
      </p:sp>
      <p:sp>
        <p:nvSpPr>
          <p:cNvPr id="45" name="Text 43"/>
          <p:cNvSpPr/>
          <p:nvPr/>
        </p:nvSpPr>
        <p:spPr>
          <a:xfrm>
            <a:off x="3673376" y="3984650"/>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Entra ID, Key Vault, App Gateway WAF v2, Calico NetworkPolicy</a:t>
            </a:r>
            <a:endParaRPr lang="en-US" sz="650" dirty="0"/>
          </a:p>
        </p:txBody>
      </p:sp>
      <p:sp>
        <p:nvSpPr>
          <p:cNvPr id="46" name="Text 44"/>
          <p:cNvSpPr/>
          <p:nvPr/>
        </p:nvSpPr>
        <p:spPr>
          <a:xfrm>
            <a:off x="1374056" y="4177531"/>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CDN &amp; Registry</a:t>
            </a:r>
            <a:endParaRPr lang="en-US" sz="650" dirty="0"/>
          </a:p>
        </p:txBody>
      </p:sp>
      <p:sp>
        <p:nvSpPr>
          <p:cNvPr id="47" name="Text 45"/>
          <p:cNvSpPr/>
          <p:nvPr/>
        </p:nvSpPr>
        <p:spPr>
          <a:xfrm>
            <a:off x="3673376" y="4177531"/>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Azure Front Door, Azure Container Registry</a:t>
            </a:r>
            <a:endParaRPr lang="en-US" sz="650" dirty="0"/>
          </a:p>
        </p:txBody>
      </p:sp>
      <p:sp>
        <p:nvSpPr>
          <p:cNvPr id="48" name="Text 46"/>
          <p:cNvSpPr/>
          <p:nvPr/>
        </p:nvSpPr>
        <p:spPr>
          <a:xfrm>
            <a:off x="1374056" y="4370412"/>
            <a:ext cx="2585070"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Monitoring</a:t>
            </a:r>
            <a:endParaRPr lang="en-US" sz="650" dirty="0"/>
          </a:p>
        </p:txBody>
      </p:sp>
      <p:sp>
        <p:nvSpPr>
          <p:cNvPr id="49" name="Text 47"/>
          <p:cNvSpPr/>
          <p:nvPr/>
        </p:nvSpPr>
        <p:spPr>
          <a:xfrm>
            <a:off x="3673376" y="4370412"/>
            <a:ext cx="4553843"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Log Analytics, Container Insights, Application Insights</a:t>
            </a:r>
            <a:endParaRPr lang="en-US" sz="650" dirty="0"/>
          </a:p>
        </p:txBody>
      </p:sp>
      <p:sp>
        <p:nvSpPr>
          <p:cNvPr id="50" name="Text 48"/>
          <p:cNvSpPr/>
          <p:nvPr/>
        </p:nvSpPr>
        <p:spPr>
          <a:xfrm>
            <a:off x="1410891" y="4650879"/>
            <a:ext cx="6904434" cy="111472"/>
          </a:xfrm>
          <a:prstGeom prst="rect">
            <a:avLst/>
          </a:prstGeom>
          <a:noFill/>
          <a:ln/>
        </p:spPr>
        <p:txBody>
          <a:bodyPr wrap="none" lIns="0" tIns="0" rIns="0" bIns="0" rtlCol="0" anchor="t"/>
          <a:lstStyle/>
          <a:p>
            <a:pPr algn="l" indent="0" marL="0">
              <a:lnSpc>
                <a:spcPct val="111000"/>
              </a:lnSpc>
              <a:buNone/>
            </a:pPr>
            <a:r>
              <a:rPr lang="en-US" sz="650" dirty="0">
                <a:solidFill>
                  <a:srgbClr val="BDA189"/>
                </a:solidFill>
                <a:latin typeface="Manrope" pitchFamily="34" charset="0"/>
                <a:ea typeface="Manrope" pitchFamily="34" charset="-122"/>
                <a:cs typeface="Manrope" pitchFamily="34" charset="-120"/>
              </a:rPr>
              <a:t>CareNest demonstrates how Terraform's module-wise structure brings order, repeatability, and security to complex cloud-native healthcare infrastructure on Azure.</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2026-06-11T07:35:57Z</dcterms:created>
  <dcterms:modified xsi:type="dcterms:W3CDTF">2026-06-11T07:35:57Z</dcterms:modified>
</cp:coreProperties>
</file>